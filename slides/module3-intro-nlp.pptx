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848"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4732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640080" y="365760"/>
            <a:ext cx="2743200" cy="2286000"/>
          </a:xfrm>
          <a:prstGeom prst="rect">
            <a:avLst/>
          </a:prstGeom>
          <a:noFill/>
          <a:ln/>
        </p:spPr>
        <p:txBody>
          <a:bodyPr wrap="square" lIns="0" tIns="0" rIns="0" bIns="0" rtlCol="0" anchor="t"/>
          <a:lstStyle/>
          <a:p>
            <a:pPr marL="0" indent="0" algn="l">
              <a:buNone/>
            </a:pPr>
            <a:r>
              <a:rPr lang="en-US" sz="9600" b="1" dirty="0">
                <a:solidFill>
                  <a:srgbClr val="1C7293">
                    <a:alpha val="60000"/>
                  </a:srgbClr>
                </a:solidFill>
                <a:latin typeface="Georgia" pitchFamily="34" charset="0"/>
                <a:ea typeface="Georgia" pitchFamily="34" charset="-122"/>
                <a:cs typeface="Georgia" pitchFamily="34" charset="-120"/>
              </a:rPr>
              <a:t>03</a:t>
            </a:r>
            <a:endParaRPr lang="en-US" sz="9600" dirty="0"/>
          </a:p>
        </p:txBody>
      </p:sp>
      <p:sp>
        <p:nvSpPr>
          <p:cNvPr id="3" name="Text 1"/>
          <p:cNvSpPr/>
          <p:nvPr/>
        </p:nvSpPr>
        <p:spPr>
          <a:xfrm>
            <a:off x="640080" y="1371600"/>
            <a:ext cx="7315200" cy="731520"/>
          </a:xfrm>
          <a:prstGeom prst="rect">
            <a:avLst/>
          </a:prstGeom>
          <a:noFill/>
          <a:ln/>
        </p:spPr>
        <p:txBody>
          <a:bodyPr wrap="square" lIns="0" tIns="0" rIns="0" bIns="0" rtlCol="0" anchor="ctr"/>
          <a:lstStyle/>
          <a:p>
            <a:pPr marL="0" indent="0">
              <a:buNone/>
            </a:pPr>
            <a:r>
              <a:rPr lang="en-US" sz="1800" kern="0" spc="400" dirty="0">
                <a:solidFill>
                  <a:srgbClr val="1C7293"/>
                </a:solidFill>
                <a:latin typeface="Calibri" pitchFamily="34" charset="0"/>
                <a:ea typeface="Calibri" pitchFamily="34" charset="-122"/>
                <a:cs typeface="Calibri" pitchFamily="34" charset="-120"/>
              </a:rPr>
              <a:t>Module 3</a:t>
            </a:r>
            <a:endParaRPr lang="en-US" sz="1800" dirty="0"/>
          </a:p>
        </p:txBody>
      </p:sp>
      <p:sp>
        <p:nvSpPr>
          <p:cNvPr id="4" name="Text 2"/>
          <p:cNvSpPr/>
          <p:nvPr/>
        </p:nvSpPr>
        <p:spPr>
          <a:xfrm>
            <a:off x="640080" y="1920240"/>
            <a:ext cx="7772400" cy="109728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Learned Embeddings</a:t>
            </a:r>
            <a:endParaRPr lang="en-US" sz="4200" dirty="0"/>
          </a:p>
        </p:txBody>
      </p:sp>
      <p:sp>
        <p:nvSpPr>
          <p:cNvPr id="5" name="Text 3"/>
          <p:cNvSpPr/>
          <p:nvPr/>
        </p:nvSpPr>
        <p:spPr>
          <a:xfrm>
            <a:off x="640080" y="2926080"/>
            <a:ext cx="7315200" cy="548640"/>
          </a:xfrm>
          <a:prstGeom prst="rect">
            <a:avLst/>
          </a:prstGeom>
          <a:noFill/>
          <a:ln/>
        </p:spPr>
        <p:txBody>
          <a:bodyPr wrap="square" lIns="0" tIns="0" rIns="0" bIns="0" rtlCol="0" anchor="ctr"/>
          <a:lstStyle/>
          <a:p>
            <a:pPr marL="0" indent="0">
              <a:buNone/>
            </a:pPr>
            <a:r>
              <a:rPr lang="en-US" sz="1800" i="1" dirty="0">
                <a:solidFill>
                  <a:srgbClr val="64748B"/>
                </a:solidFill>
                <a:latin typeface="Calibri" pitchFamily="34" charset="0"/>
                <a:ea typeface="Calibri" pitchFamily="34" charset="-122"/>
                <a:cs typeface="Calibri" pitchFamily="34" charset="-120"/>
              </a:rPr>
              <a:t>From word counts to meaning in geometry</a:t>
            </a:r>
            <a:endParaRPr lang="en-US" sz="1800" dirty="0"/>
          </a:p>
        </p:txBody>
      </p:sp>
      <p:sp>
        <p:nvSpPr>
          <p:cNvPr id="6" name="Text 4"/>
          <p:cNvSpPr/>
          <p:nvPr/>
        </p:nvSpPr>
        <p:spPr>
          <a:xfrm>
            <a:off x="640080" y="4206240"/>
            <a:ext cx="7315200" cy="45720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AIML 2003  ·  Introduction to Natural Language Processing  ·  Spring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3A5C"/>
                </a:solidFill>
                <a:latin typeface="Georgia" pitchFamily="34" charset="0"/>
                <a:ea typeface="Georgia" pitchFamily="34" charset="-122"/>
                <a:cs typeface="Georgia" pitchFamily="34" charset="-120"/>
              </a:rPr>
              <a:t>The Problem with TF-IDF</a:t>
            </a:r>
            <a:endParaRPr lang="en-US" sz="3200" dirty="0"/>
          </a:p>
        </p:txBody>
      </p:sp>
      <p:sp>
        <p:nvSpPr>
          <p:cNvPr id="3" name="Shape 1"/>
          <p:cNvSpPr/>
          <p:nvPr/>
        </p:nvSpPr>
        <p:spPr>
          <a:xfrm>
            <a:off x="640080" y="1280160"/>
            <a:ext cx="374904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640080" y="1280160"/>
            <a:ext cx="3749040" cy="54864"/>
          </a:xfrm>
          <a:prstGeom prst="rect">
            <a:avLst/>
          </a:prstGeom>
          <a:solidFill>
            <a:srgbClr val="E65100"/>
          </a:solidFill>
          <a:ln/>
        </p:spPr>
        <p:txBody>
          <a:bodyPr/>
          <a:lstStyle/>
          <a:p>
            <a:endParaRPr lang="en-US"/>
          </a:p>
        </p:txBody>
      </p:sp>
      <p:sp>
        <p:nvSpPr>
          <p:cNvPr id="5" name="Text 3"/>
          <p:cNvSpPr/>
          <p:nvPr/>
        </p:nvSpPr>
        <p:spPr>
          <a:xfrm>
            <a:off x="914400" y="1463040"/>
            <a:ext cx="3200400" cy="457200"/>
          </a:xfrm>
          <a:prstGeom prst="rect">
            <a:avLst/>
          </a:prstGeom>
          <a:noFill/>
          <a:ln/>
        </p:spPr>
        <p:txBody>
          <a:bodyPr wrap="square" lIns="0" tIns="0" rIns="0" bIns="0" rtlCol="0" anchor="ctr"/>
          <a:lstStyle/>
          <a:p>
            <a:pPr marL="0" indent="0">
              <a:buNone/>
            </a:pPr>
            <a:r>
              <a:rPr lang="en-US" sz="2000" b="1" dirty="0">
                <a:solidFill>
                  <a:srgbClr val="E65100"/>
                </a:solidFill>
                <a:latin typeface="Calibri" pitchFamily="34" charset="0"/>
                <a:ea typeface="Calibri" pitchFamily="34" charset="-122"/>
                <a:cs typeface="Calibri" pitchFamily="34" charset="-120"/>
              </a:rPr>
              <a:t>TF-IDF</a:t>
            </a:r>
            <a:endParaRPr lang="en-US" sz="2000" dirty="0"/>
          </a:p>
        </p:txBody>
      </p:sp>
      <p:sp>
        <p:nvSpPr>
          <p:cNvPr id="6" name="Text 4"/>
          <p:cNvSpPr/>
          <p:nvPr/>
        </p:nvSpPr>
        <p:spPr>
          <a:xfrm>
            <a:off x="914400" y="1965960"/>
            <a:ext cx="3200400" cy="2286000"/>
          </a:xfrm>
          <a:prstGeom prst="rect">
            <a:avLst/>
          </a:prstGeom>
          <a:noFill/>
          <a:ln/>
        </p:spPr>
        <p:txBody>
          <a:bodyPr wrap="square" lIns="0" tIns="0" rIns="0" bIns="0" rtlCol="0" anchor="t"/>
          <a:lstStyle/>
          <a:p>
            <a:pPr marL="0" indent="0">
              <a:buNone/>
            </a:pPr>
            <a:r>
              <a:rPr lang="en-US" sz="1400" dirty="0">
                <a:solidFill>
                  <a:srgbClr val="1E293B"/>
                </a:solidFill>
              </a:rPr>
              <a:t>"Excellent" and "outstanding" are </a:t>
            </a:r>
            <a:r>
              <a:rPr lang="en-US" sz="1400" b="1" dirty="0">
                <a:solidFill>
                  <a:srgbClr val="E65100"/>
                </a:solidFill>
              </a:rPr>
              <a:t>completely unrelated</a:t>
            </a:r>
            <a:r>
              <a:rPr lang="en-US" sz="1400" dirty="0">
                <a:solidFill>
                  <a:srgbClr val="1E293B"/>
                </a:solidFill>
              </a:rPr>
              <a:t> — different columns, zero overlap.</a:t>
            </a:r>
            <a:endParaRPr lang="en-US" sz="1400" dirty="0"/>
          </a:p>
          <a:p>
            <a:pPr marL="0" indent="0">
              <a:buNone/>
            </a:pPr>
            <a:endParaRPr lang="en-US" sz="1400" dirty="0"/>
          </a:p>
          <a:p>
            <a:pPr marL="0" indent="0">
              <a:buNone/>
            </a:pPr>
            <a:r>
              <a:rPr lang="en-US" sz="1400" dirty="0">
                <a:solidFill>
                  <a:srgbClr val="1E293B"/>
                </a:solidFill>
              </a:rPr>
              <a:t>One dimension per word in the vocabulary.</a:t>
            </a:r>
            <a:endParaRPr lang="en-US" sz="1400" dirty="0"/>
          </a:p>
          <a:p>
            <a:pPr marL="0" indent="0">
              <a:buNone/>
            </a:pPr>
            <a:endParaRPr lang="en-US" sz="1400" dirty="0"/>
          </a:p>
          <a:p>
            <a:pPr marL="0" indent="0">
              <a:buNone/>
            </a:pPr>
            <a:r>
              <a:rPr lang="en-US" sz="1400" dirty="0">
                <a:solidFill>
                  <a:srgbClr val="1E293B"/>
                </a:solidFill>
              </a:rPr>
              <a:t>Can only match if texts share exact words.</a:t>
            </a:r>
            <a:endParaRPr lang="en-US" sz="1400" dirty="0"/>
          </a:p>
        </p:txBody>
      </p:sp>
      <p:sp>
        <p:nvSpPr>
          <p:cNvPr id="7" name="Shape 5"/>
          <p:cNvSpPr/>
          <p:nvPr/>
        </p:nvSpPr>
        <p:spPr>
          <a:xfrm>
            <a:off x="4754880" y="1280160"/>
            <a:ext cx="3749040" cy="3200400"/>
          </a:xfrm>
          <a:prstGeom prst="rect">
            <a:avLst/>
          </a:prstGeom>
          <a:solidFill>
            <a:srgbClr val="FFFFFF"/>
          </a:solidFill>
          <a:ln/>
          <a:effectLst>
            <a:outerShdw blurRad="76200" dist="25400" dir="8100000" algn="bl" rotWithShape="0">
              <a:srgbClr val="000000">
                <a:alpha val="12000"/>
              </a:srgbClr>
            </a:outerShdw>
          </a:effectLst>
        </p:spPr>
        <p:txBody>
          <a:bodyPr/>
          <a:lstStyle/>
          <a:p>
            <a:endParaRPr lang="en-US"/>
          </a:p>
        </p:txBody>
      </p:sp>
      <p:sp>
        <p:nvSpPr>
          <p:cNvPr id="8" name="Shape 6"/>
          <p:cNvSpPr/>
          <p:nvPr/>
        </p:nvSpPr>
        <p:spPr>
          <a:xfrm>
            <a:off x="4754880" y="1280160"/>
            <a:ext cx="3749040" cy="54864"/>
          </a:xfrm>
          <a:prstGeom prst="rect">
            <a:avLst/>
          </a:prstGeom>
          <a:solidFill>
            <a:srgbClr val="2E7D32"/>
          </a:solidFill>
          <a:ln/>
        </p:spPr>
        <p:txBody>
          <a:bodyPr/>
          <a:lstStyle/>
          <a:p>
            <a:endParaRPr lang="en-US"/>
          </a:p>
        </p:txBody>
      </p:sp>
      <p:sp>
        <p:nvSpPr>
          <p:cNvPr id="9" name="Text 7"/>
          <p:cNvSpPr/>
          <p:nvPr/>
        </p:nvSpPr>
        <p:spPr>
          <a:xfrm>
            <a:off x="5029200" y="1463040"/>
            <a:ext cx="3200400" cy="457200"/>
          </a:xfrm>
          <a:prstGeom prst="rect">
            <a:avLst/>
          </a:prstGeom>
          <a:noFill/>
          <a:ln/>
        </p:spPr>
        <p:txBody>
          <a:bodyPr wrap="square" lIns="0" tIns="0" rIns="0" bIns="0" rtlCol="0" anchor="ctr"/>
          <a:lstStyle/>
          <a:p>
            <a:pPr marL="0" indent="0">
              <a:buNone/>
            </a:pPr>
            <a:r>
              <a:rPr lang="en-US" sz="2000" b="1" dirty="0">
                <a:solidFill>
                  <a:srgbClr val="2E7D32"/>
                </a:solidFill>
                <a:latin typeface="Calibri" pitchFamily="34" charset="0"/>
                <a:ea typeface="Calibri" pitchFamily="34" charset="-122"/>
                <a:cs typeface="Calibri" pitchFamily="34" charset="-120"/>
              </a:rPr>
              <a:t>Embeddings</a:t>
            </a:r>
            <a:endParaRPr lang="en-US" sz="2000" dirty="0"/>
          </a:p>
        </p:txBody>
      </p:sp>
      <p:sp>
        <p:nvSpPr>
          <p:cNvPr id="10" name="Text 8"/>
          <p:cNvSpPr/>
          <p:nvPr/>
        </p:nvSpPr>
        <p:spPr>
          <a:xfrm>
            <a:off x="5029200" y="1965960"/>
            <a:ext cx="3200400" cy="2286000"/>
          </a:xfrm>
          <a:prstGeom prst="rect">
            <a:avLst/>
          </a:prstGeom>
          <a:noFill/>
          <a:ln/>
        </p:spPr>
        <p:txBody>
          <a:bodyPr wrap="square" lIns="0" tIns="0" rIns="0" bIns="0" rtlCol="0" anchor="t"/>
          <a:lstStyle/>
          <a:p>
            <a:pPr marL="0" indent="0">
              <a:buNone/>
            </a:pPr>
            <a:r>
              <a:rPr lang="en-US" sz="1400" dirty="0">
                <a:solidFill>
                  <a:srgbClr val="1E293B"/>
                </a:solidFill>
              </a:rPr>
              <a:t>"I loved it" and "absolutely fantastic film" are </a:t>
            </a:r>
            <a:r>
              <a:rPr lang="en-US" sz="1400" b="1" dirty="0">
                <a:solidFill>
                  <a:srgbClr val="2E7D32"/>
                </a:solidFill>
              </a:rPr>
              <a:t>neighbors</a:t>
            </a:r>
            <a:r>
              <a:rPr lang="en-US" sz="1400" dirty="0">
                <a:solidFill>
                  <a:srgbClr val="1E293B"/>
                </a:solidFill>
              </a:rPr>
              <a:t> in vector space.</a:t>
            </a:r>
            <a:endParaRPr lang="en-US" sz="1400" dirty="0"/>
          </a:p>
          <a:p>
            <a:pPr marL="0" indent="0">
              <a:buNone/>
            </a:pPr>
            <a:endParaRPr lang="en-US" sz="1400" dirty="0"/>
          </a:p>
          <a:p>
            <a:pPr marL="0" indent="0">
              <a:buNone/>
            </a:pPr>
            <a:r>
              <a:rPr lang="en-US" sz="1400" dirty="0">
                <a:solidFill>
                  <a:srgbClr val="1E293B"/>
                </a:solidFill>
              </a:rPr>
              <a:t>Fixed-length vector of real numbers.</a:t>
            </a:r>
            <a:endParaRPr lang="en-US" sz="1400" dirty="0"/>
          </a:p>
          <a:p>
            <a:pPr marL="0" indent="0">
              <a:buNone/>
            </a:pPr>
            <a:endParaRPr lang="en-US" sz="1400" dirty="0"/>
          </a:p>
          <a:p>
            <a:pPr marL="0" indent="0">
              <a:buNone/>
            </a:pPr>
            <a:r>
              <a:rPr lang="en-US" sz="1400" dirty="0">
                <a:solidFill>
                  <a:srgbClr val="1E293B"/>
                </a:solidFill>
              </a:rPr>
              <a:t>Meaning lives in geometry, not vocabulary.</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3A5C"/>
                </a:solidFill>
                <a:latin typeface="Georgia" pitchFamily="34" charset="0"/>
                <a:ea typeface="Georgia" pitchFamily="34" charset="-122"/>
                <a:cs typeface="Georgia" pitchFamily="34" charset="-120"/>
              </a:rPr>
              <a:t>What Is an Embedding?</a:t>
            </a:r>
            <a:endParaRPr lang="en-US" sz="3200" dirty="0"/>
          </a:p>
        </p:txBody>
      </p:sp>
      <p:sp>
        <p:nvSpPr>
          <p:cNvPr id="3" name="Shape 1"/>
          <p:cNvSpPr/>
          <p:nvPr/>
        </p:nvSpPr>
        <p:spPr>
          <a:xfrm>
            <a:off x="640080" y="1188720"/>
            <a:ext cx="7863840" cy="1280160"/>
          </a:xfrm>
          <a:prstGeom prst="rect">
            <a:avLst/>
          </a:prstGeom>
          <a:solidFill>
            <a:srgbClr val="E8EAF6"/>
          </a:solidFill>
          <a:ln/>
        </p:spPr>
        <p:txBody>
          <a:bodyPr/>
          <a:lstStyle/>
          <a:p>
            <a:endParaRPr lang="en-US"/>
          </a:p>
        </p:txBody>
      </p:sp>
      <p:sp>
        <p:nvSpPr>
          <p:cNvPr id="4" name="Text 2"/>
          <p:cNvSpPr/>
          <p:nvPr/>
        </p:nvSpPr>
        <p:spPr>
          <a:xfrm>
            <a:off x="914400" y="1188720"/>
            <a:ext cx="7315200" cy="640080"/>
          </a:xfrm>
          <a:prstGeom prst="rect">
            <a:avLst/>
          </a:prstGeom>
          <a:noFill/>
          <a:ln/>
        </p:spPr>
        <p:txBody>
          <a:bodyPr wrap="square" lIns="0" tIns="0" rIns="0" bIns="0" rtlCol="0" anchor="ctr"/>
          <a:lstStyle/>
          <a:p>
            <a:pPr marL="0" indent="0">
              <a:buNone/>
            </a:pPr>
            <a:r>
              <a:rPr lang="en-US" sz="1600" dirty="0">
                <a:solidFill>
                  <a:srgbClr val="1E293B"/>
                </a:solidFill>
              </a:rPr>
              <a:t>A dense vector of real numbers where </a:t>
            </a:r>
            <a:r>
              <a:rPr lang="en-US" sz="1600" b="1" dirty="0">
                <a:solidFill>
                  <a:srgbClr val="1A3A5C"/>
                </a:solidFill>
              </a:rPr>
              <a:t>similar meanings map to nearby points</a:t>
            </a:r>
            <a:r>
              <a:rPr lang="en-US" sz="1600" dirty="0">
                <a:solidFill>
                  <a:srgbClr val="1E293B"/>
                </a:solidFill>
              </a:rPr>
              <a:t> in space.</a:t>
            </a:r>
            <a:endParaRPr lang="en-US" sz="1600" dirty="0"/>
          </a:p>
        </p:txBody>
      </p:sp>
      <p:sp>
        <p:nvSpPr>
          <p:cNvPr id="5" name="Text 3"/>
          <p:cNvSpPr/>
          <p:nvPr/>
        </p:nvSpPr>
        <p:spPr>
          <a:xfrm>
            <a:off x="914400" y="1828800"/>
            <a:ext cx="7315200" cy="548640"/>
          </a:xfrm>
          <a:prstGeom prst="rect">
            <a:avLst/>
          </a:prstGeom>
          <a:noFill/>
          <a:ln/>
        </p:spPr>
        <p:txBody>
          <a:bodyPr wrap="square" lIns="0" tIns="0" rIns="0" bIns="0" rtlCol="0" anchor="t"/>
          <a:lstStyle/>
          <a:p>
            <a:pPr marL="0" indent="0">
              <a:buNone/>
            </a:pPr>
            <a:r>
              <a:rPr lang="en-US" sz="1300" i="1" dirty="0">
                <a:solidFill>
                  <a:srgbClr val="64748B"/>
                </a:solidFill>
                <a:latin typeface="Calibri" pitchFamily="34" charset="0"/>
                <a:ea typeface="Calibri" pitchFamily="34" charset="-122"/>
                <a:cs typeface="Calibri" pitchFamily="34" charset="-120"/>
              </a:rPr>
              <a:t>"The food was delicious" and "The meal tasted amazing"  →  close neighbors</a:t>
            </a:r>
            <a:endParaRPr lang="en-US" sz="1300" dirty="0"/>
          </a:p>
          <a:p>
            <a:pPr marL="0" indent="0">
              <a:buNone/>
            </a:pPr>
            <a:r>
              <a:rPr lang="en-US" sz="1300" i="1" dirty="0">
                <a:solidFill>
                  <a:srgbClr val="64748B"/>
                </a:solidFill>
                <a:latin typeface="Calibri" pitchFamily="34" charset="0"/>
                <a:ea typeface="Calibri" pitchFamily="34" charset="-122"/>
                <a:cs typeface="Calibri" pitchFamily="34" charset="-120"/>
              </a:rPr>
              <a:t>"The food was delicious" and "The quarterly earnings report"  →  far apart</a:t>
            </a:r>
            <a:endParaRPr lang="en-US" sz="1300" dirty="0"/>
          </a:p>
        </p:txBody>
      </p:sp>
      <p:sp>
        <p:nvSpPr>
          <p:cNvPr id="6" name="Shape 4"/>
          <p:cNvSpPr/>
          <p:nvPr/>
        </p:nvSpPr>
        <p:spPr>
          <a:xfrm>
            <a:off x="640080" y="2743200"/>
            <a:ext cx="54864" cy="594360"/>
          </a:xfrm>
          <a:prstGeom prst="rect">
            <a:avLst/>
          </a:prstGeom>
          <a:solidFill>
            <a:srgbClr val="1A3A5C"/>
          </a:solidFill>
          <a:ln/>
        </p:spPr>
        <p:txBody>
          <a:bodyPr/>
          <a:lstStyle/>
          <a:p>
            <a:endParaRPr lang="en-US"/>
          </a:p>
        </p:txBody>
      </p:sp>
      <p:sp>
        <p:nvSpPr>
          <p:cNvPr id="7" name="Text 5"/>
          <p:cNvSpPr/>
          <p:nvPr/>
        </p:nvSpPr>
        <p:spPr>
          <a:xfrm>
            <a:off x="914400" y="2743200"/>
            <a:ext cx="1645920" cy="594360"/>
          </a:xfrm>
          <a:prstGeom prst="rect">
            <a:avLst/>
          </a:prstGeom>
          <a:noFill/>
          <a:ln/>
        </p:spPr>
        <p:txBody>
          <a:bodyPr wrap="square" lIns="0" tIns="0" rIns="0" bIns="0" rtlCol="0" anchor="ctr"/>
          <a:lstStyle/>
          <a:p>
            <a:pPr marL="0" indent="0">
              <a:buNone/>
            </a:pPr>
            <a:r>
              <a:rPr lang="en-US" sz="1600" b="1" dirty="0">
                <a:solidFill>
                  <a:srgbClr val="1A3A5C"/>
                </a:solidFill>
                <a:latin typeface="Calibri" pitchFamily="34" charset="0"/>
                <a:ea typeface="Calibri" pitchFamily="34" charset="-122"/>
                <a:cs typeface="Calibri" pitchFamily="34" charset="-120"/>
              </a:rPr>
              <a:t>Dense</a:t>
            </a:r>
            <a:endParaRPr lang="en-US" sz="1600" dirty="0"/>
          </a:p>
        </p:txBody>
      </p:sp>
      <p:sp>
        <p:nvSpPr>
          <p:cNvPr id="8" name="Text 6"/>
          <p:cNvSpPr/>
          <p:nvPr/>
        </p:nvSpPr>
        <p:spPr>
          <a:xfrm>
            <a:off x="2560320" y="2743200"/>
            <a:ext cx="5943600" cy="5943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384 real numbers per sentence, not 50,000 one-shot columns</a:t>
            </a:r>
            <a:endParaRPr lang="en-US" sz="1400" dirty="0"/>
          </a:p>
        </p:txBody>
      </p:sp>
      <p:sp>
        <p:nvSpPr>
          <p:cNvPr id="9" name="Shape 7"/>
          <p:cNvSpPr/>
          <p:nvPr/>
        </p:nvSpPr>
        <p:spPr>
          <a:xfrm>
            <a:off x="640080" y="3520440"/>
            <a:ext cx="54864" cy="594360"/>
          </a:xfrm>
          <a:prstGeom prst="rect">
            <a:avLst/>
          </a:prstGeom>
          <a:solidFill>
            <a:srgbClr val="1C7293"/>
          </a:solidFill>
          <a:ln/>
        </p:spPr>
        <p:txBody>
          <a:bodyPr/>
          <a:lstStyle/>
          <a:p>
            <a:endParaRPr lang="en-US"/>
          </a:p>
        </p:txBody>
      </p:sp>
      <p:sp>
        <p:nvSpPr>
          <p:cNvPr id="10" name="Text 8"/>
          <p:cNvSpPr/>
          <p:nvPr/>
        </p:nvSpPr>
        <p:spPr>
          <a:xfrm>
            <a:off x="914400" y="3520440"/>
            <a:ext cx="1645920" cy="59436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Learned</a:t>
            </a:r>
            <a:endParaRPr lang="en-US" sz="1600" dirty="0"/>
          </a:p>
        </p:txBody>
      </p:sp>
      <p:sp>
        <p:nvSpPr>
          <p:cNvPr id="11" name="Text 9"/>
          <p:cNvSpPr/>
          <p:nvPr/>
        </p:nvSpPr>
        <p:spPr>
          <a:xfrm>
            <a:off x="2560320" y="3520440"/>
            <a:ext cx="5943600" cy="5943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Trained on billions of sentence pairs — nobody wrote rules about similarity</a:t>
            </a:r>
            <a:endParaRPr lang="en-US" sz="1400" dirty="0"/>
          </a:p>
        </p:txBody>
      </p:sp>
      <p:sp>
        <p:nvSpPr>
          <p:cNvPr id="12" name="Shape 10"/>
          <p:cNvSpPr/>
          <p:nvPr/>
        </p:nvSpPr>
        <p:spPr>
          <a:xfrm>
            <a:off x="640080" y="4297680"/>
            <a:ext cx="54864" cy="594360"/>
          </a:xfrm>
          <a:prstGeom prst="rect">
            <a:avLst/>
          </a:prstGeom>
          <a:solidFill>
            <a:srgbClr val="2E7D32"/>
          </a:solidFill>
          <a:ln/>
        </p:spPr>
        <p:txBody>
          <a:bodyPr/>
          <a:lstStyle/>
          <a:p>
            <a:endParaRPr lang="en-US"/>
          </a:p>
        </p:txBody>
      </p:sp>
      <p:sp>
        <p:nvSpPr>
          <p:cNvPr id="13" name="Text 11"/>
          <p:cNvSpPr/>
          <p:nvPr/>
        </p:nvSpPr>
        <p:spPr>
          <a:xfrm>
            <a:off x="914400" y="4297680"/>
            <a:ext cx="1645920" cy="594360"/>
          </a:xfrm>
          <a:prstGeom prst="rect">
            <a:avLst/>
          </a:prstGeom>
          <a:noFill/>
          <a:ln/>
        </p:spPr>
        <p:txBody>
          <a:bodyPr wrap="square" lIns="0" tIns="0" rIns="0" bIns="0" rtlCol="0" anchor="ctr"/>
          <a:lstStyle/>
          <a:p>
            <a:pPr marL="0" indent="0">
              <a:buNone/>
            </a:pPr>
            <a:r>
              <a:rPr lang="en-US" sz="1600" b="1" dirty="0">
                <a:solidFill>
                  <a:srgbClr val="2E7D32"/>
                </a:solidFill>
                <a:latin typeface="Calibri" pitchFamily="34" charset="0"/>
                <a:ea typeface="Calibri" pitchFamily="34" charset="-122"/>
                <a:cs typeface="Calibri" pitchFamily="34" charset="-120"/>
              </a:rPr>
              <a:t>Geometric</a:t>
            </a:r>
            <a:endParaRPr lang="en-US" sz="1600" dirty="0"/>
          </a:p>
        </p:txBody>
      </p:sp>
      <p:sp>
        <p:nvSpPr>
          <p:cNvPr id="14" name="Text 12"/>
          <p:cNvSpPr/>
          <p:nvPr/>
        </p:nvSpPr>
        <p:spPr>
          <a:xfrm>
            <a:off x="2560320" y="4297680"/>
            <a:ext cx="5943600" cy="59436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Cosine similarity measures direction, not magnitude — angle between vectors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The Classic Test</a:t>
            </a:r>
            <a:endParaRPr lang="en-US" sz="3200" dirty="0"/>
          </a:p>
        </p:txBody>
      </p:sp>
      <p:sp>
        <p:nvSpPr>
          <p:cNvPr id="3" name="Text 1"/>
          <p:cNvSpPr/>
          <p:nvPr/>
        </p:nvSpPr>
        <p:spPr>
          <a:xfrm>
            <a:off x="457200" y="1371600"/>
            <a:ext cx="8229600" cy="1097280"/>
          </a:xfrm>
          <a:prstGeom prst="rect">
            <a:avLst/>
          </a:prstGeom>
          <a:noFill/>
          <a:ln/>
        </p:spPr>
        <p:txBody>
          <a:bodyPr wrap="square" lIns="0" tIns="0" rIns="0" bIns="0" rtlCol="0" anchor="ctr"/>
          <a:lstStyle/>
          <a:p>
            <a:pPr marL="0" indent="0" algn="ctr">
              <a:buNone/>
            </a:pPr>
            <a:r>
              <a:rPr lang="en-US" sz="3600" b="1" dirty="0">
                <a:solidFill>
                  <a:srgbClr val="F59E0B"/>
                </a:solidFill>
                <a:latin typeface="Georgia" pitchFamily="34" charset="0"/>
                <a:ea typeface="Georgia" pitchFamily="34" charset="-122"/>
                <a:cs typeface="Georgia" pitchFamily="34" charset="-120"/>
              </a:rPr>
              <a:t>king</a:t>
            </a:r>
            <a:r>
              <a:rPr lang="en-US" sz="3600" dirty="0">
                <a:solidFill>
                  <a:srgbClr val="64748B"/>
                </a:solidFill>
                <a:latin typeface="Georgia" pitchFamily="34" charset="0"/>
                <a:ea typeface="Georgia" pitchFamily="34" charset="-122"/>
                <a:cs typeface="Georgia" pitchFamily="34" charset="-120"/>
              </a:rPr>
              <a:t>  −  </a:t>
            </a:r>
            <a:r>
              <a:rPr lang="en-US" sz="3600" b="1" dirty="0">
                <a:solidFill>
                  <a:srgbClr val="EF4444"/>
                </a:solidFill>
                <a:latin typeface="Georgia" pitchFamily="34" charset="0"/>
                <a:ea typeface="Georgia" pitchFamily="34" charset="-122"/>
                <a:cs typeface="Georgia" pitchFamily="34" charset="-120"/>
              </a:rPr>
              <a:t>man</a:t>
            </a:r>
            <a:r>
              <a:rPr lang="en-US" sz="3600" dirty="0">
                <a:solidFill>
                  <a:srgbClr val="64748B"/>
                </a:solidFill>
                <a:latin typeface="Georgia" pitchFamily="34" charset="0"/>
                <a:ea typeface="Georgia" pitchFamily="34" charset="-122"/>
                <a:cs typeface="Georgia" pitchFamily="34" charset="-120"/>
              </a:rPr>
              <a:t>  +  </a:t>
            </a:r>
            <a:r>
              <a:rPr lang="en-US" sz="3600" b="1" dirty="0">
                <a:solidFill>
                  <a:srgbClr val="818CF8"/>
                </a:solidFill>
                <a:latin typeface="Georgia" pitchFamily="34" charset="0"/>
                <a:ea typeface="Georgia" pitchFamily="34" charset="-122"/>
                <a:cs typeface="Georgia" pitchFamily="34" charset="-120"/>
              </a:rPr>
              <a:t>woman</a:t>
            </a:r>
            <a:r>
              <a:rPr lang="en-US" sz="3600" dirty="0">
                <a:solidFill>
                  <a:srgbClr val="64748B"/>
                </a:solidFill>
                <a:latin typeface="Georgia" pitchFamily="34" charset="0"/>
                <a:ea typeface="Georgia" pitchFamily="34" charset="-122"/>
                <a:cs typeface="Georgia" pitchFamily="34" charset="-120"/>
              </a:rPr>
              <a:t>  ≈  </a:t>
            </a:r>
            <a:r>
              <a:rPr lang="en-US" sz="3600" b="1" dirty="0">
                <a:solidFill>
                  <a:srgbClr val="F59E0B"/>
                </a:solidFill>
                <a:latin typeface="Georgia" pitchFamily="34" charset="0"/>
                <a:ea typeface="Georgia" pitchFamily="34" charset="-122"/>
                <a:cs typeface="Georgia" pitchFamily="34" charset="-120"/>
              </a:rPr>
              <a:t>queen</a:t>
            </a:r>
            <a:endParaRPr lang="en-US" sz="3600" dirty="0"/>
          </a:p>
        </p:txBody>
      </p:sp>
      <p:sp>
        <p:nvSpPr>
          <p:cNvPr id="4" name="Text 2"/>
          <p:cNvSpPr/>
          <p:nvPr/>
        </p:nvSpPr>
        <p:spPr>
          <a:xfrm>
            <a:off x="1371600" y="2743200"/>
            <a:ext cx="6400800" cy="914400"/>
          </a:xfrm>
          <a:prstGeom prst="rect">
            <a:avLst/>
          </a:prstGeom>
          <a:noFill/>
          <a:ln/>
        </p:spPr>
        <p:txBody>
          <a:bodyPr wrap="square" lIns="0" tIns="0" rIns="0" bIns="0" rtlCol="0" anchor="ctr"/>
          <a:lstStyle/>
          <a:p>
            <a:pPr marL="0" indent="0" algn="ctr">
              <a:buNone/>
            </a:pPr>
            <a:r>
              <a:rPr lang="en-US" sz="1600" dirty="0">
                <a:solidFill>
                  <a:srgbClr val="64748B"/>
                </a:solidFill>
                <a:latin typeface="Calibri" pitchFamily="34" charset="0"/>
                <a:ea typeface="Calibri" pitchFamily="34" charset="-122"/>
                <a:cs typeface="Calibri" pitchFamily="34" charset="-120"/>
              </a:rPr>
              <a:t>This falls out of training on co-occurrence patterns in text.</a:t>
            </a:r>
            <a:endParaRPr lang="en-US" sz="1600" dirty="0"/>
          </a:p>
          <a:p>
            <a:pPr marL="0" indent="0" algn="ctr">
              <a:buNone/>
            </a:pPr>
            <a:r>
              <a:rPr lang="en-US" sz="1600" dirty="0">
                <a:solidFill>
                  <a:srgbClr val="64748B"/>
                </a:solidFill>
                <a:latin typeface="Calibri" pitchFamily="34" charset="0"/>
                <a:ea typeface="Calibri" pitchFamily="34" charset="-122"/>
                <a:cs typeface="Calibri" pitchFamily="34" charset="-120"/>
              </a:rPr>
              <a:t>Nobody programmed it. The geometry encodes meaning.</a:t>
            </a:r>
            <a:endParaRPr lang="en-US" sz="1600" dirty="0"/>
          </a:p>
        </p:txBody>
      </p:sp>
      <p:sp>
        <p:nvSpPr>
          <p:cNvPr id="5" name="Shape 3"/>
          <p:cNvSpPr/>
          <p:nvPr/>
        </p:nvSpPr>
        <p:spPr>
          <a:xfrm>
            <a:off x="1371600" y="3657600"/>
            <a:ext cx="6400800" cy="822960"/>
          </a:xfrm>
          <a:prstGeom prst="rect">
            <a:avLst/>
          </a:prstGeom>
          <a:solidFill>
            <a:srgbClr val="1C7293"/>
          </a:solidFill>
          <a:ln/>
        </p:spPr>
        <p:txBody>
          <a:bodyPr/>
          <a:lstStyle/>
          <a:p>
            <a:endParaRPr lang="en-US"/>
          </a:p>
        </p:txBody>
      </p:sp>
      <p:sp>
        <p:nvSpPr>
          <p:cNvPr id="6" name="Text 4"/>
          <p:cNvSpPr/>
          <p:nvPr/>
        </p:nvSpPr>
        <p:spPr>
          <a:xfrm>
            <a:off x="1371600" y="3657600"/>
            <a:ext cx="6400800" cy="822960"/>
          </a:xfrm>
          <a:prstGeom prst="rect">
            <a:avLst/>
          </a:prstGeom>
          <a:noFill/>
          <a:ln/>
        </p:spPr>
        <p:txBody>
          <a:bodyPr wrap="square" lIns="0" tIns="0" rIns="0" bIns="0" rtlCol="0" anchor="ctr"/>
          <a:lstStyle/>
          <a:p>
            <a:pPr marL="0" indent="0" algn="ctr">
              <a:buNone/>
            </a:pPr>
            <a:r>
              <a:rPr lang="en-US" sz="1500" dirty="0">
                <a:solidFill>
                  <a:srgbClr val="FFFFFF"/>
                </a:solidFill>
                <a:latin typeface="Calibri" pitchFamily="34" charset="0"/>
                <a:ea typeface="Calibri" pitchFamily="34" charset="-122"/>
                <a:cs typeface="Calibri" pitchFamily="34" charset="-120"/>
              </a:rPr>
              <a:t>You'll explore this live in the Google Embedding Projector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3A5C"/>
                </a:solidFill>
                <a:latin typeface="Georgia" pitchFamily="34" charset="0"/>
                <a:ea typeface="Georgia" pitchFamily="34" charset="-122"/>
                <a:cs typeface="Georgia" pitchFamily="34" charset="-120"/>
              </a:rPr>
              <a:t>From Words to Sentences</a:t>
            </a:r>
            <a:endParaRPr lang="en-US" sz="3200" dirty="0"/>
          </a:p>
        </p:txBody>
      </p:sp>
      <p:sp>
        <p:nvSpPr>
          <p:cNvPr id="3" name="Shape 1"/>
          <p:cNvSpPr/>
          <p:nvPr/>
        </p:nvSpPr>
        <p:spPr>
          <a:xfrm>
            <a:off x="640080" y="1280160"/>
            <a:ext cx="7863840" cy="1005840"/>
          </a:xfrm>
          <a:prstGeom prst="rect">
            <a:avLst/>
          </a:prstGeom>
          <a:solidFill>
            <a:srgbClr val="FEF3C7"/>
          </a:solidFill>
          <a:ln/>
        </p:spPr>
        <p:txBody>
          <a:bodyPr/>
          <a:lstStyle/>
          <a:p>
            <a:endParaRPr lang="en-US"/>
          </a:p>
        </p:txBody>
      </p:sp>
      <p:sp>
        <p:nvSpPr>
          <p:cNvPr id="4" name="Shape 2"/>
          <p:cNvSpPr/>
          <p:nvPr/>
        </p:nvSpPr>
        <p:spPr>
          <a:xfrm>
            <a:off x="640080" y="1280160"/>
            <a:ext cx="73152" cy="1005840"/>
          </a:xfrm>
          <a:prstGeom prst="rect">
            <a:avLst/>
          </a:prstGeom>
          <a:solidFill>
            <a:srgbClr val="F59E0B"/>
          </a:solidFill>
          <a:ln/>
        </p:spPr>
        <p:txBody>
          <a:bodyPr/>
          <a:lstStyle/>
          <a:p>
            <a:endParaRPr lang="en-US"/>
          </a:p>
        </p:txBody>
      </p:sp>
      <p:sp>
        <p:nvSpPr>
          <p:cNvPr id="5" name="Text 3"/>
          <p:cNvSpPr/>
          <p:nvPr/>
        </p:nvSpPr>
        <p:spPr>
          <a:xfrm>
            <a:off x="1005840" y="1325880"/>
            <a:ext cx="2286000" cy="365760"/>
          </a:xfrm>
          <a:prstGeom prst="rect">
            <a:avLst/>
          </a:prstGeom>
          <a:noFill/>
          <a:ln/>
        </p:spPr>
        <p:txBody>
          <a:bodyPr wrap="square" lIns="0" tIns="0" rIns="0" bIns="0" rtlCol="0" anchor="ctr"/>
          <a:lstStyle/>
          <a:p>
            <a:pPr marL="0" indent="0">
              <a:buNone/>
            </a:pPr>
            <a:r>
              <a:rPr lang="en-US" sz="1800" b="1" dirty="0">
                <a:solidFill>
                  <a:srgbClr val="F59E0B"/>
                </a:solidFill>
                <a:latin typeface="Calibri" pitchFamily="34" charset="0"/>
                <a:ea typeface="Calibri" pitchFamily="34" charset="-122"/>
                <a:cs typeface="Calibri" pitchFamily="34" charset="-120"/>
              </a:rPr>
              <a:t>Word2Vec</a:t>
            </a:r>
            <a:endParaRPr lang="en-US" sz="1800" dirty="0"/>
          </a:p>
        </p:txBody>
      </p:sp>
      <p:sp>
        <p:nvSpPr>
          <p:cNvPr id="6" name="Text 4"/>
          <p:cNvSpPr/>
          <p:nvPr/>
        </p:nvSpPr>
        <p:spPr>
          <a:xfrm>
            <a:off x="1005840" y="1691640"/>
            <a:ext cx="7223760" cy="54864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One vector per word.</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"bank" always gets the same vector regardless of context.</a:t>
            </a:r>
            <a:endParaRPr lang="en-US" sz="1300" dirty="0"/>
          </a:p>
        </p:txBody>
      </p:sp>
      <p:sp>
        <p:nvSpPr>
          <p:cNvPr id="7" name="Shape 5"/>
          <p:cNvSpPr/>
          <p:nvPr/>
        </p:nvSpPr>
        <p:spPr>
          <a:xfrm>
            <a:off x="640080" y="2468880"/>
            <a:ext cx="7863840" cy="1005840"/>
          </a:xfrm>
          <a:prstGeom prst="rect">
            <a:avLst/>
          </a:prstGeom>
          <a:solidFill>
            <a:srgbClr val="FEE2E2"/>
          </a:solidFill>
          <a:ln/>
        </p:spPr>
        <p:txBody>
          <a:bodyPr/>
          <a:lstStyle/>
          <a:p>
            <a:endParaRPr lang="en-US"/>
          </a:p>
        </p:txBody>
      </p:sp>
      <p:sp>
        <p:nvSpPr>
          <p:cNvPr id="8" name="Shape 6"/>
          <p:cNvSpPr/>
          <p:nvPr/>
        </p:nvSpPr>
        <p:spPr>
          <a:xfrm>
            <a:off x="640080" y="2468880"/>
            <a:ext cx="73152" cy="1005840"/>
          </a:xfrm>
          <a:prstGeom prst="rect">
            <a:avLst/>
          </a:prstGeom>
          <a:solidFill>
            <a:srgbClr val="EF4444"/>
          </a:solidFill>
          <a:ln/>
        </p:spPr>
        <p:txBody>
          <a:bodyPr/>
          <a:lstStyle/>
          <a:p>
            <a:endParaRPr lang="en-US"/>
          </a:p>
        </p:txBody>
      </p:sp>
      <p:sp>
        <p:nvSpPr>
          <p:cNvPr id="9" name="Text 7"/>
          <p:cNvSpPr/>
          <p:nvPr/>
        </p:nvSpPr>
        <p:spPr>
          <a:xfrm>
            <a:off x="1005840" y="2514600"/>
            <a:ext cx="2286000" cy="365760"/>
          </a:xfrm>
          <a:prstGeom prst="rect">
            <a:avLst/>
          </a:prstGeom>
          <a:noFill/>
          <a:ln/>
        </p:spPr>
        <p:txBody>
          <a:bodyPr wrap="square" lIns="0" tIns="0" rIns="0" bIns="0" rtlCol="0" anchor="ctr"/>
          <a:lstStyle/>
          <a:p>
            <a:pPr marL="0" indent="0">
              <a:buNone/>
            </a:pPr>
            <a:r>
              <a:rPr lang="en-US" sz="1800" b="1" dirty="0">
                <a:solidFill>
                  <a:srgbClr val="EF4444"/>
                </a:solidFill>
                <a:latin typeface="Calibri" pitchFamily="34" charset="0"/>
                <a:ea typeface="Calibri" pitchFamily="34" charset="-122"/>
                <a:cs typeface="Calibri" pitchFamily="34" charset="-120"/>
              </a:rPr>
              <a:t>The gap</a:t>
            </a:r>
            <a:endParaRPr lang="en-US" sz="1800" dirty="0"/>
          </a:p>
        </p:txBody>
      </p:sp>
      <p:sp>
        <p:nvSpPr>
          <p:cNvPr id="10" name="Text 8"/>
          <p:cNvSpPr/>
          <p:nvPr/>
        </p:nvSpPr>
        <p:spPr>
          <a:xfrm>
            <a:off x="1005840" y="2880360"/>
            <a:ext cx="7223760" cy="54864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How do you get one vector for a whole sentence?</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Averaging word vectors loses word order and context.</a:t>
            </a:r>
            <a:endParaRPr lang="en-US" sz="1300" dirty="0"/>
          </a:p>
        </p:txBody>
      </p:sp>
      <p:sp>
        <p:nvSpPr>
          <p:cNvPr id="11" name="Shape 9"/>
          <p:cNvSpPr/>
          <p:nvPr/>
        </p:nvSpPr>
        <p:spPr>
          <a:xfrm>
            <a:off x="640080" y="3657600"/>
            <a:ext cx="7863840" cy="1005840"/>
          </a:xfrm>
          <a:prstGeom prst="rect">
            <a:avLst/>
          </a:prstGeom>
          <a:solidFill>
            <a:srgbClr val="DCFCE7"/>
          </a:solidFill>
          <a:ln/>
        </p:spPr>
        <p:txBody>
          <a:bodyPr/>
          <a:lstStyle/>
          <a:p>
            <a:endParaRPr lang="en-US"/>
          </a:p>
        </p:txBody>
      </p:sp>
      <p:sp>
        <p:nvSpPr>
          <p:cNvPr id="12" name="Shape 10"/>
          <p:cNvSpPr/>
          <p:nvPr/>
        </p:nvSpPr>
        <p:spPr>
          <a:xfrm>
            <a:off x="640080" y="3657600"/>
            <a:ext cx="73152" cy="1005840"/>
          </a:xfrm>
          <a:prstGeom prst="rect">
            <a:avLst/>
          </a:prstGeom>
          <a:solidFill>
            <a:srgbClr val="2E7D32"/>
          </a:solidFill>
          <a:ln/>
        </p:spPr>
        <p:txBody>
          <a:bodyPr/>
          <a:lstStyle/>
          <a:p>
            <a:endParaRPr lang="en-US"/>
          </a:p>
        </p:txBody>
      </p:sp>
      <p:sp>
        <p:nvSpPr>
          <p:cNvPr id="13" name="Text 11"/>
          <p:cNvSpPr/>
          <p:nvPr/>
        </p:nvSpPr>
        <p:spPr>
          <a:xfrm>
            <a:off x="1005840" y="3703320"/>
            <a:ext cx="2286000" cy="365760"/>
          </a:xfrm>
          <a:prstGeom prst="rect">
            <a:avLst/>
          </a:prstGeom>
          <a:noFill/>
          <a:ln/>
        </p:spPr>
        <p:txBody>
          <a:bodyPr wrap="square" lIns="0" tIns="0" rIns="0" bIns="0" rtlCol="0" anchor="ctr"/>
          <a:lstStyle/>
          <a:p>
            <a:pPr marL="0" indent="0">
              <a:buNone/>
            </a:pPr>
            <a:r>
              <a:rPr lang="en-US" sz="1800" b="1" dirty="0">
                <a:solidFill>
                  <a:srgbClr val="2E7D32"/>
                </a:solidFill>
                <a:latin typeface="Calibri" pitchFamily="34" charset="0"/>
                <a:ea typeface="Calibri" pitchFamily="34" charset="-122"/>
                <a:cs typeface="Calibri" pitchFamily="34" charset="-120"/>
              </a:rPr>
              <a:t>Sentence Transformers</a:t>
            </a:r>
            <a:endParaRPr lang="en-US" sz="1800" dirty="0"/>
          </a:p>
        </p:txBody>
      </p:sp>
      <p:sp>
        <p:nvSpPr>
          <p:cNvPr id="14" name="Text 12"/>
          <p:cNvSpPr/>
          <p:nvPr/>
        </p:nvSpPr>
        <p:spPr>
          <a:xfrm>
            <a:off x="1005840" y="4069080"/>
            <a:ext cx="7223760" cy="54864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One vector per sentence.</a:t>
            </a:r>
            <a:endParaRPr lang="en-US" sz="1300" dirty="0"/>
          </a:p>
          <a:p>
            <a:pPr marL="0" indent="0">
              <a:buNone/>
            </a:pPr>
            <a:r>
              <a:rPr lang="en-US" sz="1300" dirty="0">
                <a:solidFill>
                  <a:srgbClr val="1E293B"/>
                </a:solidFill>
                <a:latin typeface="Calibri" pitchFamily="34" charset="0"/>
                <a:ea typeface="Calibri" pitchFamily="34" charset="-122"/>
                <a:cs typeface="Calibri" pitchFamily="34" charset="-120"/>
              </a:rPr>
              <a:t>all-MiniLM-L6-v2 outputs a single 384-dimension vector that captures the meaning of the whole sentence.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3A5C"/>
                </a:solidFill>
                <a:latin typeface="Georgia" pitchFamily="34" charset="0"/>
                <a:ea typeface="Georgia" pitchFamily="34" charset="-122"/>
                <a:cs typeface="Georgia" pitchFamily="34" charset="-120"/>
              </a:rPr>
              <a:t>Cosine Similarity</a:t>
            </a:r>
            <a:endParaRPr lang="en-US" sz="3200" dirty="0"/>
          </a:p>
        </p:txBody>
      </p:sp>
      <p:sp>
        <p:nvSpPr>
          <p:cNvPr id="3" name="Text 1"/>
          <p:cNvSpPr/>
          <p:nvPr/>
        </p:nvSpPr>
        <p:spPr>
          <a:xfrm>
            <a:off x="640080" y="914400"/>
            <a:ext cx="7772400" cy="457200"/>
          </a:xfrm>
          <a:prstGeom prst="rect">
            <a:avLst/>
          </a:prstGeom>
          <a:noFill/>
          <a:ln/>
        </p:spPr>
        <p:txBody>
          <a:bodyPr wrap="square" lIns="0" tIns="0" rIns="0" bIns="0" rtlCol="0" anchor="ctr"/>
          <a:lstStyle/>
          <a:p>
            <a:pPr marL="0" indent="0">
              <a:buNone/>
            </a:pPr>
            <a:r>
              <a:rPr lang="en-US" sz="1600" i="1" dirty="0">
                <a:solidFill>
                  <a:srgbClr val="64748B"/>
                </a:solidFill>
                <a:latin typeface="Calibri" pitchFamily="34" charset="0"/>
                <a:ea typeface="Calibri" pitchFamily="34" charset="-122"/>
                <a:cs typeface="Calibri" pitchFamily="34" charset="-120"/>
              </a:rPr>
              <a:t>Measures direction, not magnitude</a:t>
            </a:r>
            <a:endParaRPr lang="en-US" sz="1600" dirty="0"/>
          </a:p>
        </p:txBody>
      </p:sp>
      <p:sp>
        <p:nvSpPr>
          <p:cNvPr id="4" name="Shape 2"/>
          <p:cNvSpPr/>
          <p:nvPr/>
        </p:nvSpPr>
        <p:spPr>
          <a:xfrm>
            <a:off x="640080" y="1645920"/>
            <a:ext cx="2560320" cy="2011680"/>
          </a:xfrm>
          <a:prstGeom prst="rect">
            <a:avLst/>
          </a:prstGeom>
          <a:solidFill>
            <a:srgbClr val="F7F9FC"/>
          </a:solidFill>
          <a:ln/>
          <a:effectLst>
            <a:outerShdw blurRad="76200" dist="25400" dir="8100000" algn="bl" rotWithShape="0">
              <a:srgbClr val="000000">
                <a:alpha val="12000"/>
              </a:srgbClr>
            </a:outerShdw>
          </a:effectLst>
        </p:spPr>
        <p:txBody>
          <a:bodyPr/>
          <a:lstStyle/>
          <a:p>
            <a:endParaRPr lang="en-US"/>
          </a:p>
        </p:txBody>
      </p:sp>
      <p:sp>
        <p:nvSpPr>
          <p:cNvPr id="5" name="Text 3"/>
          <p:cNvSpPr/>
          <p:nvPr/>
        </p:nvSpPr>
        <p:spPr>
          <a:xfrm>
            <a:off x="640080" y="1737360"/>
            <a:ext cx="2560320" cy="731520"/>
          </a:xfrm>
          <a:prstGeom prst="rect">
            <a:avLst/>
          </a:prstGeom>
          <a:noFill/>
          <a:ln/>
        </p:spPr>
        <p:txBody>
          <a:bodyPr wrap="square" lIns="0" tIns="0" rIns="0" bIns="0" rtlCol="0" anchor="ctr"/>
          <a:lstStyle/>
          <a:p>
            <a:pPr marL="0" indent="0" algn="ctr">
              <a:buNone/>
            </a:pPr>
            <a:r>
              <a:rPr lang="en-US" sz="4200" b="1" dirty="0">
                <a:solidFill>
                  <a:srgbClr val="2E7D32"/>
                </a:solidFill>
                <a:latin typeface="Georgia" pitchFamily="34" charset="0"/>
                <a:ea typeface="Georgia" pitchFamily="34" charset="-122"/>
                <a:cs typeface="Georgia" pitchFamily="34" charset="-120"/>
              </a:rPr>
              <a:t>1.0</a:t>
            </a:r>
            <a:endParaRPr lang="en-US" sz="4200" dirty="0"/>
          </a:p>
        </p:txBody>
      </p:sp>
      <p:sp>
        <p:nvSpPr>
          <p:cNvPr id="6" name="Text 4"/>
          <p:cNvSpPr/>
          <p:nvPr/>
        </p:nvSpPr>
        <p:spPr>
          <a:xfrm>
            <a:off x="822960" y="2560320"/>
            <a:ext cx="2194560" cy="36576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Identical direction</a:t>
            </a:r>
            <a:endParaRPr lang="en-US" sz="1400" dirty="0"/>
          </a:p>
        </p:txBody>
      </p:sp>
      <p:sp>
        <p:nvSpPr>
          <p:cNvPr id="7" name="Text 5"/>
          <p:cNvSpPr/>
          <p:nvPr/>
        </p:nvSpPr>
        <p:spPr>
          <a:xfrm>
            <a:off x="822960" y="2926080"/>
            <a:ext cx="219456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Sentences mean the same thing</a:t>
            </a:r>
            <a:endParaRPr lang="en-US" sz="1200" dirty="0"/>
          </a:p>
        </p:txBody>
      </p:sp>
      <p:sp>
        <p:nvSpPr>
          <p:cNvPr id="8" name="Shape 6"/>
          <p:cNvSpPr/>
          <p:nvPr/>
        </p:nvSpPr>
        <p:spPr>
          <a:xfrm>
            <a:off x="3474720" y="1645920"/>
            <a:ext cx="2560320" cy="2011680"/>
          </a:xfrm>
          <a:prstGeom prst="rect">
            <a:avLst/>
          </a:prstGeom>
          <a:solidFill>
            <a:srgbClr val="F7F9FC"/>
          </a:solidFill>
          <a:ln/>
          <a:effectLst>
            <a:outerShdw blurRad="76200" dist="25400" dir="8100000" algn="bl" rotWithShape="0">
              <a:srgbClr val="000000">
                <a:alpha val="12000"/>
              </a:srgbClr>
            </a:outerShdw>
          </a:effectLst>
        </p:spPr>
        <p:txBody>
          <a:bodyPr/>
          <a:lstStyle/>
          <a:p>
            <a:endParaRPr lang="en-US"/>
          </a:p>
        </p:txBody>
      </p:sp>
      <p:sp>
        <p:nvSpPr>
          <p:cNvPr id="9" name="Text 7"/>
          <p:cNvSpPr/>
          <p:nvPr/>
        </p:nvSpPr>
        <p:spPr>
          <a:xfrm>
            <a:off x="3474720" y="1737360"/>
            <a:ext cx="2560320" cy="731520"/>
          </a:xfrm>
          <a:prstGeom prst="rect">
            <a:avLst/>
          </a:prstGeom>
          <a:noFill/>
          <a:ln/>
        </p:spPr>
        <p:txBody>
          <a:bodyPr wrap="square" lIns="0" tIns="0" rIns="0" bIns="0" rtlCol="0" anchor="ctr"/>
          <a:lstStyle/>
          <a:p>
            <a:pPr marL="0" indent="0" algn="ctr">
              <a:buNone/>
            </a:pPr>
            <a:r>
              <a:rPr lang="en-US" sz="4200" b="1" dirty="0">
                <a:solidFill>
                  <a:srgbClr val="F59E0B"/>
                </a:solidFill>
                <a:latin typeface="Georgia" pitchFamily="34" charset="0"/>
                <a:ea typeface="Georgia" pitchFamily="34" charset="-122"/>
                <a:cs typeface="Georgia" pitchFamily="34" charset="-120"/>
              </a:rPr>
              <a:t>0.0</a:t>
            </a:r>
            <a:endParaRPr lang="en-US" sz="4200" dirty="0"/>
          </a:p>
        </p:txBody>
      </p:sp>
      <p:sp>
        <p:nvSpPr>
          <p:cNvPr id="10" name="Text 8"/>
          <p:cNvSpPr/>
          <p:nvPr/>
        </p:nvSpPr>
        <p:spPr>
          <a:xfrm>
            <a:off x="3657600" y="2560320"/>
            <a:ext cx="2194560" cy="36576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Perpendicular</a:t>
            </a:r>
            <a:endParaRPr lang="en-US" sz="1400" dirty="0"/>
          </a:p>
        </p:txBody>
      </p:sp>
      <p:sp>
        <p:nvSpPr>
          <p:cNvPr id="11" name="Text 9"/>
          <p:cNvSpPr/>
          <p:nvPr/>
        </p:nvSpPr>
        <p:spPr>
          <a:xfrm>
            <a:off x="3657600" y="2926080"/>
            <a:ext cx="219456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Unrelated topics</a:t>
            </a:r>
            <a:endParaRPr lang="en-US" sz="1200" dirty="0"/>
          </a:p>
        </p:txBody>
      </p:sp>
      <p:sp>
        <p:nvSpPr>
          <p:cNvPr id="12" name="Shape 10"/>
          <p:cNvSpPr/>
          <p:nvPr/>
        </p:nvSpPr>
        <p:spPr>
          <a:xfrm>
            <a:off x="6309360" y="1645920"/>
            <a:ext cx="2560320" cy="2011680"/>
          </a:xfrm>
          <a:prstGeom prst="rect">
            <a:avLst/>
          </a:prstGeom>
          <a:solidFill>
            <a:srgbClr val="F7F9FC"/>
          </a:solidFill>
          <a:ln/>
          <a:effectLst>
            <a:outerShdw blurRad="76200" dist="25400" dir="8100000" algn="bl" rotWithShape="0">
              <a:srgbClr val="000000">
                <a:alpha val="12000"/>
              </a:srgbClr>
            </a:outerShdw>
          </a:effectLst>
        </p:spPr>
        <p:txBody>
          <a:bodyPr/>
          <a:lstStyle/>
          <a:p>
            <a:endParaRPr lang="en-US"/>
          </a:p>
        </p:txBody>
      </p:sp>
      <p:sp>
        <p:nvSpPr>
          <p:cNvPr id="13" name="Text 11"/>
          <p:cNvSpPr/>
          <p:nvPr/>
        </p:nvSpPr>
        <p:spPr>
          <a:xfrm>
            <a:off x="6309360" y="1737360"/>
            <a:ext cx="2560320" cy="731520"/>
          </a:xfrm>
          <a:prstGeom prst="rect">
            <a:avLst/>
          </a:prstGeom>
          <a:noFill/>
          <a:ln/>
        </p:spPr>
        <p:txBody>
          <a:bodyPr wrap="square" lIns="0" tIns="0" rIns="0" bIns="0" rtlCol="0" anchor="ctr"/>
          <a:lstStyle/>
          <a:p>
            <a:pPr marL="0" indent="0" algn="ctr">
              <a:buNone/>
            </a:pPr>
            <a:r>
              <a:rPr lang="en-US" sz="4200" b="1" dirty="0">
                <a:solidFill>
                  <a:srgbClr val="EF4444"/>
                </a:solidFill>
                <a:latin typeface="Georgia" pitchFamily="34" charset="0"/>
                <a:ea typeface="Georgia" pitchFamily="34" charset="-122"/>
                <a:cs typeface="Georgia" pitchFamily="34" charset="-120"/>
              </a:rPr>
              <a:t>−1.0</a:t>
            </a:r>
            <a:endParaRPr lang="en-US" sz="4200" dirty="0"/>
          </a:p>
        </p:txBody>
      </p:sp>
      <p:sp>
        <p:nvSpPr>
          <p:cNvPr id="14" name="Text 12"/>
          <p:cNvSpPr/>
          <p:nvPr/>
        </p:nvSpPr>
        <p:spPr>
          <a:xfrm>
            <a:off x="6492240" y="2560320"/>
            <a:ext cx="2194560" cy="36576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Opposite</a:t>
            </a:r>
            <a:endParaRPr lang="en-US" sz="1400" dirty="0"/>
          </a:p>
        </p:txBody>
      </p:sp>
      <p:sp>
        <p:nvSpPr>
          <p:cNvPr id="15" name="Text 13"/>
          <p:cNvSpPr/>
          <p:nvPr/>
        </p:nvSpPr>
        <p:spPr>
          <a:xfrm>
            <a:off x="6492240" y="2926080"/>
            <a:ext cx="2194560" cy="457200"/>
          </a:xfrm>
          <a:prstGeom prst="rect">
            <a:avLst/>
          </a:prstGeom>
          <a:noFill/>
          <a:ln/>
        </p:spPr>
        <p:txBody>
          <a:bodyPr wrap="square" lIns="0" tIns="0" rIns="0" bIns="0"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Opposite meanings (rare in practice)</a:t>
            </a:r>
            <a:endParaRPr lang="en-US" sz="1200" dirty="0"/>
          </a:p>
        </p:txBody>
      </p:sp>
      <p:sp>
        <p:nvSpPr>
          <p:cNvPr id="16" name="Shape 14"/>
          <p:cNvSpPr/>
          <p:nvPr/>
        </p:nvSpPr>
        <p:spPr>
          <a:xfrm>
            <a:off x="640080" y="3931920"/>
            <a:ext cx="7863840" cy="731520"/>
          </a:xfrm>
          <a:prstGeom prst="rect">
            <a:avLst/>
          </a:prstGeom>
          <a:solidFill>
            <a:srgbClr val="E8EAF6"/>
          </a:solidFill>
          <a:ln/>
        </p:spPr>
        <p:txBody>
          <a:bodyPr/>
          <a:lstStyle/>
          <a:p>
            <a:endParaRPr lang="en-US"/>
          </a:p>
        </p:txBody>
      </p:sp>
      <p:sp>
        <p:nvSpPr>
          <p:cNvPr id="17" name="Text 15"/>
          <p:cNvSpPr/>
          <p:nvPr/>
        </p:nvSpPr>
        <p:spPr>
          <a:xfrm>
            <a:off x="914400" y="3931920"/>
            <a:ext cx="7315200" cy="731520"/>
          </a:xfrm>
          <a:prstGeom prst="rect">
            <a:avLst/>
          </a:prstGeom>
          <a:noFill/>
          <a:ln/>
        </p:spPr>
        <p:txBody>
          <a:bodyPr wrap="square" lIns="0" tIns="0" rIns="0" bIns="0" rtlCol="0" anchor="ctr"/>
          <a:lstStyle/>
          <a:p>
            <a:pPr marL="0" indent="0">
              <a:buNone/>
            </a:pPr>
            <a:r>
              <a:rPr lang="en-US" sz="1400" dirty="0">
                <a:solidFill>
                  <a:srgbClr val="1A3A5C"/>
                </a:solidFill>
                <a:latin typeface="Calibri" pitchFamily="34" charset="0"/>
                <a:ea typeface="Calibri" pitchFamily="34" charset="-122"/>
                <a:cs typeface="Calibri" pitchFamily="34" charset="-120"/>
              </a:rPr>
              <a:t>Same metric you used with TF-IDF in Module 2 — but the vectors encode meaning now, not word counts.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The Big Change This Week</a:t>
            </a:r>
            <a:endParaRPr lang="en-US" sz="3200" dirty="0"/>
          </a:p>
        </p:txBody>
      </p:sp>
      <p:sp>
        <p:nvSpPr>
          <p:cNvPr id="3" name="Text 1"/>
          <p:cNvSpPr/>
          <p:nvPr/>
        </p:nvSpPr>
        <p:spPr>
          <a:xfrm>
            <a:off x="640080" y="1188720"/>
            <a:ext cx="7863840" cy="731520"/>
          </a:xfrm>
          <a:prstGeom prst="rect">
            <a:avLst/>
          </a:prstGeom>
          <a:noFill/>
          <a:ln/>
        </p:spPr>
        <p:txBody>
          <a:bodyPr wrap="square" lIns="0" tIns="0" rIns="0" bIns="0" rtlCol="0" anchor="ctr"/>
          <a:lstStyle/>
          <a:p>
            <a:pPr marL="0" indent="0" algn="ctr">
              <a:buNone/>
            </a:pPr>
            <a:r>
              <a:rPr lang="en-US" sz="3600" b="1" dirty="0">
                <a:solidFill>
                  <a:srgbClr val="F59E0B"/>
                </a:solidFill>
                <a:latin typeface="Calibri" pitchFamily="34" charset="0"/>
                <a:ea typeface="Calibri" pitchFamily="34" charset="-122"/>
                <a:cs typeface="Calibri" pitchFamily="34" charset="-120"/>
              </a:rPr>
              <a:t>NO CODE SCAFFOLD</a:t>
            </a:r>
            <a:endParaRPr lang="en-US" sz="3600" dirty="0"/>
          </a:p>
        </p:txBody>
      </p:sp>
      <p:sp>
        <p:nvSpPr>
          <p:cNvPr id="4" name="Shape 2"/>
          <p:cNvSpPr/>
          <p:nvPr/>
        </p:nvSpPr>
        <p:spPr>
          <a:xfrm>
            <a:off x="1371600" y="2194560"/>
            <a:ext cx="548640" cy="548640"/>
          </a:xfrm>
          <a:prstGeom prst="rect">
            <a:avLst/>
          </a:prstGeom>
          <a:solidFill>
            <a:srgbClr val="1C7293"/>
          </a:solidFill>
          <a:ln/>
        </p:spPr>
        <p:txBody>
          <a:bodyPr/>
          <a:lstStyle/>
          <a:p>
            <a:endParaRPr lang="en-US"/>
          </a:p>
        </p:txBody>
      </p:sp>
      <p:sp>
        <p:nvSpPr>
          <p:cNvPr id="5" name="Text 3"/>
          <p:cNvSpPr/>
          <p:nvPr/>
        </p:nvSpPr>
        <p:spPr>
          <a:xfrm>
            <a:off x="1371600" y="219456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1</a:t>
            </a:r>
            <a:endParaRPr lang="en-US" sz="2200" dirty="0"/>
          </a:p>
        </p:txBody>
      </p:sp>
      <p:sp>
        <p:nvSpPr>
          <p:cNvPr id="6" name="Text 4"/>
          <p:cNvSpPr/>
          <p:nvPr/>
        </p:nvSpPr>
        <p:spPr>
          <a:xfrm>
            <a:off x="2194560" y="2194560"/>
            <a:ext cx="2743200" cy="5486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Read the spec box</a:t>
            </a:r>
            <a:endParaRPr lang="en-US" sz="1800" dirty="0"/>
          </a:p>
        </p:txBody>
      </p:sp>
      <p:sp>
        <p:nvSpPr>
          <p:cNvPr id="7" name="Text 5"/>
          <p:cNvSpPr/>
          <p:nvPr/>
        </p:nvSpPr>
        <p:spPr>
          <a:xfrm>
            <a:off x="4754880" y="2194560"/>
            <a:ext cx="3200400" cy="548640"/>
          </a:xfrm>
          <a:prstGeom prst="rect">
            <a:avLst/>
          </a:prstGeom>
          <a:noFill/>
          <a:ln/>
        </p:spPr>
        <p:txBody>
          <a:bodyPr wrap="square" lIns="0" tIns="0" rIns="0" bIns="0" rtlCol="0" anchor="ctr"/>
          <a:lstStyle/>
          <a:p>
            <a:pPr marL="0" indent="0">
              <a:buNone/>
            </a:pPr>
            <a:r>
              <a:rPr lang="en-US" sz="1300" dirty="0">
                <a:solidFill>
                  <a:schemeClr val="bg1">
                    <a:lumMod val="95000"/>
                  </a:schemeClr>
                </a:solidFill>
                <a:latin typeface="Calibri" pitchFamily="34" charset="0"/>
                <a:ea typeface="Calibri" pitchFamily="34" charset="-122"/>
                <a:cs typeface="Calibri" pitchFamily="34" charset="-120"/>
              </a:rPr>
              <a:t>What the cell does, what it takes in, what it must produce</a:t>
            </a:r>
            <a:endParaRPr lang="en-US" sz="1300" dirty="0">
              <a:solidFill>
                <a:schemeClr val="bg1">
                  <a:lumMod val="95000"/>
                </a:schemeClr>
              </a:solidFill>
            </a:endParaRPr>
          </a:p>
        </p:txBody>
      </p:sp>
      <p:sp>
        <p:nvSpPr>
          <p:cNvPr id="8" name="Shape 6"/>
          <p:cNvSpPr/>
          <p:nvPr/>
        </p:nvSpPr>
        <p:spPr>
          <a:xfrm>
            <a:off x="1371600" y="3063240"/>
            <a:ext cx="548640" cy="548640"/>
          </a:xfrm>
          <a:prstGeom prst="rect">
            <a:avLst/>
          </a:prstGeom>
          <a:solidFill>
            <a:srgbClr val="1C7293"/>
          </a:solidFill>
          <a:ln/>
        </p:spPr>
        <p:txBody>
          <a:bodyPr/>
          <a:lstStyle/>
          <a:p>
            <a:endParaRPr lang="en-US"/>
          </a:p>
        </p:txBody>
      </p:sp>
      <p:sp>
        <p:nvSpPr>
          <p:cNvPr id="9" name="Text 7"/>
          <p:cNvSpPr/>
          <p:nvPr/>
        </p:nvSpPr>
        <p:spPr>
          <a:xfrm>
            <a:off x="1371600" y="306324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2</a:t>
            </a:r>
            <a:endParaRPr lang="en-US" sz="2200" dirty="0"/>
          </a:p>
        </p:txBody>
      </p:sp>
      <p:sp>
        <p:nvSpPr>
          <p:cNvPr id="10" name="Text 8"/>
          <p:cNvSpPr/>
          <p:nvPr/>
        </p:nvSpPr>
        <p:spPr>
          <a:xfrm>
            <a:off x="2194560" y="3063240"/>
            <a:ext cx="2743200" cy="5486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Prompt your LLM</a:t>
            </a:r>
            <a:endParaRPr lang="en-US" sz="1800" dirty="0"/>
          </a:p>
        </p:txBody>
      </p:sp>
      <p:sp>
        <p:nvSpPr>
          <p:cNvPr id="11" name="Text 9"/>
          <p:cNvSpPr/>
          <p:nvPr/>
        </p:nvSpPr>
        <p:spPr>
          <a:xfrm>
            <a:off x="4754880" y="3063240"/>
            <a:ext cx="3200400" cy="548640"/>
          </a:xfrm>
          <a:prstGeom prst="rect">
            <a:avLst/>
          </a:prstGeom>
          <a:noFill/>
          <a:ln/>
        </p:spPr>
        <p:txBody>
          <a:bodyPr wrap="square" lIns="0" tIns="0" rIns="0" bIns="0" rtlCol="0" anchor="ctr"/>
          <a:lstStyle/>
          <a:p>
            <a:pPr marL="0" indent="0">
              <a:buNone/>
            </a:pPr>
            <a:r>
              <a:rPr lang="en-US" sz="1300" dirty="0">
                <a:solidFill>
                  <a:schemeClr val="bg1">
                    <a:lumMod val="95000"/>
                  </a:schemeClr>
                </a:solidFill>
                <a:latin typeface="Calibri" pitchFamily="34" charset="0"/>
                <a:ea typeface="Calibri" pitchFamily="34" charset="-122"/>
                <a:cs typeface="Calibri" pitchFamily="34" charset="-120"/>
              </a:rPr>
              <a:t>Give Gemini the specification. Document the prompt in a markdown cell.</a:t>
            </a:r>
            <a:endParaRPr lang="en-US" sz="1300" dirty="0">
              <a:solidFill>
                <a:schemeClr val="bg1">
                  <a:lumMod val="95000"/>
                </a:schemeClr>
              </a:solidFill>
            </a:endParaRPr>
          </a:p>
        </p:txBody>
      </p:sp>
      <p:sp>
        <p:nvSpPr>
          <p:cNvPr id="12" name="Shape 10"/>
          <p:cNvSpPr/>
          <p:nvPr/>
        </p:nvSpPr>
        <p:spPr>
          <a:xfrm>
            <a:off x="1371600" y="3931920"/>
            <a:ext cx="548640" cy="548640"/>
          </a:xfrm>
          <a:prstGeom prst="rect">
            <a:avLst/>
          </a:prstGeom>
          <a:solidFill>
            <a:srgbClr val="1C7293"/>
          </a:solidFill>
          <a:ln/>
        </p:spPr>
        <p:txBody>
          <a:bodyPr/>
          <a:lstStyle/>
          <a:p>
            <a:endParaRPr lang="en-US"/>
          </a:p>
        </p:txBody>
      </p:sp>
      <p:sp>
        <p:nvSpPr>
          <p:cNvPr id="13" name="Text 11"/>
          <p:cNvSpPr/>
          <p:nvPr/>
        </p:nvSpPr>
        <p:spPr>
          <a:xfrm>
            <a:off x="1371600" y="3931920"/>
            <a:ext cx="548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Georgia" pitchFamily="34" charset="0"/>
                <a:ea typeface="Georgia" pitchFamily="34" charset="-122"/>
                <a:cs typeface="Georgia" pitchFamily="34" charset="-120"/>
              </a:rPr>
              <a:t>3</a:t>
            </a:r>
            <a:endParaRPr lang="en-US" sz="2200" dirty="0"/>
          </a:p>
        </p:txBody>
      </p:sp>
      <p:sp>
        <p:nvSpPr>
          <p:cNvPr id="14" name="Text 12"/>
          <p:cNvSpPr/>
          <p:nvPr/>
        </p:nvSpPr>
        <p:spPr>
          <a:xfrm>
            <a:off x="2194560" y="3931920"/>
            <a:ext cx="2743200" cy="5486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Fix &amp; explain</a:t>
            </a:r>
            <a:endParaRPr lang="en-US" sz="1800" dirty="0"/>
          </a:p>
        </p:txBody>
      </p:sp>
      <p:sp>
        <p:nvSpPr>
          <p:cNvPr id="15" name="Text 13"/>
          <p:cNvSpPr/>
          <p:nvPr/>
        </p:nvSpPr>
        <p:spPr>
          <a:xfrm>
            <a:off x="4754880" y="3931920"/>
            <a:ext cx="3200400" cy="548640"/>
          </a:xfrm>
          <a:prstGeom prst="rect">
            <a:avLst/>
          </a:prstGeom>
          <a:noFill/>
          <a:ln/>
        </p:spPr>
        <p:txBody>
          <a:bodyPr wrap="square" lIns="0" tIns="0" rIns="0" bIns="0" rtlCol="0" anchor="ctr"/>
          <a:lstStyle/>
          <a:p>
            <a:pPr marL="0" indent="0">
              <a:buNone/>
            </a:pPr>
            <a:r>
              <a:rPr lang="en-US" sz="1300" dirty="0">
                <a:solidFill>
                  <a:schemeClr val="bg1">
                    <a:lumMod val="95000"/>
                  </a:schemeClr>
                </a:solidFill>
                <a:latin typeface="Calibri" pitchFamily="34" charset="0"/>
                <a:ea typeface="Calibri" pitchFamily="34" charset="-122"/>
                <a:cs typeface="Calibri" pitchFamily="34" charset="-120"/>
              </a:rPr>
              <a:t>If the code doesn't work, fix it. One sentence on what you changed and why.</a:t>
            </a:r>
            <a:endParaRPr lang="en-US" sz="1300" dirty="0">
              <a:solidFill>
                <a:schemeClr val="bg1">
                  <a:lumMod val="95000"/>
                </a:schemeClr>
              </a:solidFill>
            </a:endParaRPr>
          </a:p>
        </p:txBody>
      </p:sp>
      <p:sp>
        <p:nvSpPr>
          <p:cNvPr id="16" name="Text 14"/>
          <p:cNvSpPr/>
          <p:nvPr/>
        </p:nvSpPr>
        <p:spPr>
          <a:xfrm>
            <a:off x="640080" y="4572000"/>
            <a:ext cx="7863840" cy="365760"/>
          </a:xfrm>
          <a:prstGeom prst="rect">
            <a:avLst/>
          </a:prstGeom>
          <a:noFill/>
          <a:ln/>
        </p:spPr>
        <p:txBody>
          <a:bodyPr wrap="square" lIns="0" tIns="0" rIns="0" bIns="0" rtlCol="0" anchor="ctr"/>
          <a:lstStyle/>
          <a:p>
            <a:pPr marL="0" indent="0" algn="ctr">
              <a:buNone/>
            </a:pPr>
            <a:r>
              <a:rPr lang="en-US" sz="1400" i="1" dirty="0">
                <a:solidFill>
                  <a:srgbClr val="F59E0B"/>
                </a:solidFill>
                <a:latin typeface="Calibri" pitchFamily="34" charset="0"/>
                <a:ea typeface="Calibri" pitchFamily="34" charset="-122"/>
                <a:cs typeface="Calibri" pitchFamily="34" charset="-120"/>
              </a:rPr>
              <a:t>This is the workflow for the rest of the semester.</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3A5C"/>
                </a:solidFill>
                <a:latin typeface="Georgia" pitchFamily="34" charset="0"/>
                <a:ea typeface="Georgia" pitchFamily="34" charset="-122"/>
                <a:cs typeface="Georgia" pitchFamily="34" charset="-120"/>
              </a:rPr>
              <a:t>This Week's Lab</a:t>
            </a:r>
            <a:endParaRPr lang="en-US" sz="3200" dirty="0"/>
          </a:p>
        </p:txBody>
      </p:sp>
      <p:sp>
        <p:nvSpPr>
          <p:cNvPr id="3" name="Text 1"/>
          <p:cNvSpPr/>
          <p:nvPr/>
        </p:nvSpPr>
        <p:spPr>
          <a:xfrm>
            <a:off x="640080" y="914400"/>
            <a:ext cx="7772400" cy="365760"/>
          </a:xfrm>
          <a:prstGeom prst="rect">
            <a:avLst/>
          </a:prstGeom>
          <a:noFill/>
          <a:ln/>
        </p:spPr>
        <p:txBody>
          <a:bodyPr wrap="square" lIns="0" tIns="0" rIns="0" bIns="0" rtlCol="0" anchor="ctr"/>
          <a:lstStyle/>
          <a:p>
            <a:pPr marL="0" indent="0">
              <a:buNone/>
            </a:pPr>
            <a:r>
              <a:rPr lang="en-US" sz="1600" dirty="0">
                <a:solidFill>
                  <a:srgbClr val="1C7293"/>
                </a:solidFill>
                <a:latin typeface="Calibri" pitchFamily="34" charset="0"/>
                <a:ea typeface="Calibri" pitchFamily="34" charset="-122"/>
                <a:cs typeface="Calibri" pitchFamily="34" charset="-120"/>
              </a:rPr>
              <a:t>Sentence Embeddings &amp; Semantic Search</a:t>
            </a:r>
            <a:endParaRPr lang="en-US" sz="1600" dirty="0"/>
          </a:p>
        </p:txBody>
      </p:sp>
      <p:sp>
        <p:nvSpPr>
          <p:cNvPr id="4" name="Shape 2"/>
          <p:cNvSpPr/>
          <p:nvPr/>
        </p:nvSpPr>
        <p:spPr>
          <a:xfrm>
            <a:off x="640080" y="1463040"/>
            <a:ext cx="54864" cy="502920"/>
          </a:xfrm>
          <a:prstGeom prst="rect">
            <a:avLst/>
          </a:prstGeom>
          <a:solidFill>
            <a:srgbClr val="1C7293"/>
          </a:solidFill>
          <a:ln/>
        </p:spPr>
        <p:txBody>
          <a:bodyPr/>
          <a:lstStyle/>
          <a:p>
            <a:endParaRPr lang="en-US"/>
          </a:p>
        </p:txBody>
      </p:sp>
      <p:sp>
        <p:nvSpPr>
          <p:cNvPr id="5" name="Text 3"/>
          <p:cNvSpPr/>
          <p:nvPr/>
        </p:nvSpPr>
        <p:spPr>
          <a:xfrm>
            <a:off x="960120" y="1463040"/>
            <a:ext cx="2743200" cy="502920"/>
          </a:xfrm>
          <a:prstGeom prst="rect">
            <a:avLst/>
          </a:prstGeom>
          <a:noFill/>
          <a:ln/>
        </p:spPr>
        <p:txBody>
          <a:bodyPr wrap="square" lIns="0" tIns="0" rIns="0" bIns="0" rtlCol="0" anchor="ctr"/>
          <a:lstStyle/>
          <a:p>
            <a:pPr marL="0" indent="0">
              <a:buNone/>
            </a:pPr>
            <a:r>
              <a:rPr lang="en-US" sz="1500" b="1" dirty="0">
                <a:solidFill>
                  <a:srgbClr val="1A3A5C"/>
                </a:solidFill>
                <a:latin typeface="Calibri" pitchFamily="34" charset="0"/>
                <a:ea typeface="Calibri" pitchFamily="34" charset="-122"/>
                <a:cs typeface="Calibri" pitchFamily="34" charset="-120"/>
              </a:rPr>
              <a:t>Load all-MiniLM-L6-v2</a:t>
            </a:r>
            <a:endParaRPr lang="en-US" sz="1500" dirty="0"/>
          </a:p>
        </p:txBody>
      </p:sp>
      <p:sp>
        <p:nvSpPr>
          <p:cNvPr id="6" name="Text 4"/>
          <p:cNvSpPr/>
          <p:nvPr/>
        </p:nvSpPr>
        <p:spPr>
          <a:xfrm>
            <a:off x="3749040" y="1463040"/>
            <a:ext cx="475488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384-dimension sentence transformer. ~80 MB, free, runs in Colab.</a:t>
            </a:r>
            <a:endParaRPr lang="en-US" sz="1300" dirty="0"/>
          </a:p>
        </p:txBody>
      </p:sp>
      <p:sp>
        <p:nvSpPr>
          <p:cNvPr id="7" name="Shape 5"/>
          <p:cNvSpPr/>
          <p:nvPr/>
        </p:nvSpPr>
        <p:spPr>
          <a:xfrm>
            <a:off x="640080" y="2148840"/>
            <a:ext cx="54864" cy="502920"/>
          </a:xfrm>
          <a:prstGeom prst="rect">
            <a:avLst/>
          </a:prstGeom>
          <a:solidFill>
            <a:srgbClr val="1C7293"/>
          </a:solidFill>
          <a:ln/>
        </p:spPr>
        <p:txBody>
          <a:bodyPr/>
          <a:lstStyle/>
          <a:p>
            <a:endParaRPr lang="en-US"/>
          </a:p>
        </p:txBody>
      </p:sp>
      <p:sp>
        <p:nvSpPr>
          <p:cNvPr id="8" name="Text 6"/>
          <p:cNvSpPr/>
          <p:nvPr/>
        </p:nvSpPr>
        <p:spPr>
          <a:xfrm>
            <a:off x="960120" y="2148840"/>
            <a:ext cx="2743200" cy="502920"/>
          </a:xfrm>
          <a:prstGeom prst="rect">
            <a:avLst/>
          </a:prstGeom>
          <a:noFill/>
          <a:ln/>
        </p:spPr>
        <p:txBody>
          <a:bodyPr wrap="square" lIns="0" tIns="0" rIns="0" bIns="0" rtlCol="0" anchor="ctr"/>
          <a:lstStyle/>
          <a:p>
            <a:pPr marL="0" indent="0">
              <a:buNone/>
            </a:pPr>
            <a:r>
              <a:rPr lang="en-US" sz="1500" b="1" dirty="0">
                <a:solidFill>
                  <a:srgbClr val="1A3A5C"/>
                </a:solidFill>
                <a:latin typeface="Calibri" pitchFamily="34" charset="0"/>
                <a:ea typeface="Calibri" pitchFamily="34" charset="-122"/>
                <a:cs typeface="Calibri" pitchFamily="34" charset="-120"/>
              </a:rPr>
              <a:t>Encode your dataset</a:t>
            </a:r>
            <a:endParaRPr lang="en-US" sz="1500" dirty="0"/>
          </a:p>
        </p:txBody>
      </p:sp>
      <p:sp>
        <p:nvSpPr>
          <p:cNvPr id="9" name="Text 7"/>
          <p:cNvSpPr/>
          <p:nvPr/>
        </p:nvSpPr>
        <p:spPr>
          <a:xfrm>
            <a:off x="3749040" y="2148840"/>
            <a:ext cx="475488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Same curated dataset from Module 2 — now as embedding vectors.</a:t>
            </a:r>
            <a:endParaRPr lang="en-US" sz="1300" dirty="0"/>
          </a:p>
        </p:txBody>
      </p:sp>
      <p:sp>
        <p:nvSpPr>
          <p:cNvPr id="10" name="Shape 8"/>
          <p:cNvSpPr/>
          <p:nvPr/>
        </p:nvSpPr>
        <p:spPr>
          <a:xfrm>
            <a:off x="640080" y="2834640"/>
            <a:ext cx="54864" cy="502920"/>
          </a:xfrm>
          <a:prstGeom prst="rect">
            <a:avLst/>
          </a:prstGeom>
          <a:solidFill>
            <a:srgbClr val="1C7293"/>
          </a:solidFill>
          <a:ln/>
        </p:spPr>
        <p:txBody>
          <a:bodyPr/>
          <a:lstStyle/>
          <a:p>
            <a:endParaRPr lang="en-US"/>
          </a:p>
        </p:txBody>
      </p:sp>
      <p:sp>
        <p:nvSpPr>
          <p:cNvPr id="11" name="Text 9"/>
          <p:cNvSpPr/>
          <p:nvPr/>
        </p:nvSpPr>
        <p:spPr>
          <a:xfrm>
            <a:off x="960120" y="2834640"/>
            <a:ext cx="2743200" cy="502920"/>
          </a:xfrm>
          <a:prstGeom prst="rect">
            <a:avLst/>
          </a:prstGeom>
          <a:noFill/>
          <a:ln/>
        </p:spPr>
        <p:txBody>
          <a:bodyPr wrap="square" lIns="0" tIns="0" rIns="0" bIns="0" rtlCol="0" anchor="ctr"/>
          <a:lstStyle/>
          <a:p>
            <a:pPr marL="0" indent="0">
              <a:buNone/>
            </a:pPr>
            <a:r>
              <a:rPr lang="en-US" sz="1500" b="1" dirty="0">
                <a:solidFill>
                  <a:srgbClr val="1A3A5C"/>
                </a:solidFill>
                <a:latin typeface="Calibri" pitchFamily="34" charset="0"/>
                <a:ea typeface="Calibri" pitchFamily="34" charset="-122"/>
                <a:cs typeface="Calibri" pitchFamily="34" charset="-120"/>
              </a:rPr>
              <a:t>Build semantic search</a:t>
            </a:r>
            <a:endParaRPr lang="en-US" sz="1500" dirty="0"/>
          </a:p>
        </p:txBody>
      </p:sp>
      <p:sp>
        <p:nvSpPr>
          <p:cNvPr id="12" name="Text 10"/>
          <p:cNvSpPr/>
          <p:nvPr/>
        </p:nvSpPr>
        <p:spPr>
          <a:xfrm>
            <a:off x="3749040" y="2834640"/>
            <a:ext cx="475488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Query by meaning: "great food" finds "delicious meal" even with zero word overlap.</a:t>
            </a:r>
            <a:endParaRPr lang="en-US" sz="1300" dirty="0"/>
          </a:p>
        </p:txBody>
      </p:sp>
      <p:sp>
        <p:nvSpPr>
          <p:cNvPr id="13" name="Shape 11"/>
          <p:cNvSpPr/>
          <p:nvPr/>
        </p:nvSpPr>
        <p:spPr>
          <a:xfrm>
            <a:off x="640080" y="3520440"/>
            <a:ext cx="54864" cy="502920"/>
          </a:xfrm>
          <a:prstGeom prst="rect">
            <a:avLst/>
          </a:prstGeom>
          <a:solidFill>
            <a:srgbClr val="1C7293"/>
          </a:solidFill>
          <a:ln/>
        </p:spPr>
        <p:txBody>
          <a:bodyPr/>
          <a:lstStyle/>
          <a:p>
            <a:endParaRPr lang="en-US"/>
          </a:p>
        </p:txBody>
      </p:sp>
      <p:sp>
        <p:nvSpPr>
          <p:cNvPr id="14" name="Text 12"/>
          <p:cNvSpPr/>
          <p:nvPr/>
        </p:nvSpPr>
        <p:spPr>
          <a:xfrm>
            <a:off x="960120" y="3520440"/>
            <a:ext cx="2743200" cy="502920"/>
          </a:xfrm>
          <a:prstGeom prst="rect">
            <a:avLst/>
          </a:prstGeom>
          <a:noFill/>
          <a:ln/>
        </p:spPr>
        <p:txBody>
          <a:bodyPr wrap="square" lIns="0" tIns="0" rIns="0" bIns="0" rtlCol="0" anchor="ctr"/>
          <a:lstStyle/>
          <a:p>
            <a:pPr marL="0" indent="0">
              <a:buNone/>
            </a:pPr>
            <a:r>
              <a:rPr lang="en-US" sz="1500" b="1" dirty="0">
                <a:solidFill>
                  <a:srgbClr val="1A3A5C"/>
                </a:solidFill>
                <a:latin typeface="Calibri" pitchFamily="34" charset="0"/>
                <a:ea typeface="Calibri" pitchFamily="34" charset="-122"/>
                <a:cs typeface="Calibri" pitchFamily="34" charset="-120"/>
              </a:rPr>
              <a:t>Compare vs. TF-IDF</a:t>
            </a:r>
            <a:endParaRPr lang="en-US" sz="1500" dirty="0"/>
          </a:p>
        </p:txBody>
      </p:sp>
      <p:sp>
        <p:nvSpPr>
          <p:cNvPr id="15" name="Text 13"/>
          <p:cNvSpPr/>
          <p:nvPr/>
        </p:nvSpPr>
        <p:spPr>
          <a:xfrm>
            <a:off x="3749040" y="3520440"/>
            <a:ext cx="475488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Same queries, same data. Where does semantic search win? Where does it lose?</a:t>
            </a:r>
            <a:endParaRPr lang="en-US" sz="1300" dirty="0"/>
          </a:p>
        </p:txBody>
      </p:sp>
      <p:sp>
        <p:nvSpPr>
          <p:cNvPr id="16" name="Shape 14"/>
          <p:cNvSpPr/>
          <p:nvPr/>
        </p:nvSpPr>
        <p:spPr>
          <a:xfrm>
            <a:off x="640080" y="4206240"/>
            <a:ext cx="54864" cy="502920"/>
          </a:xfrm>
          <a:prstGeom prst="rect">
            <a:avLst/>
          </a:prstGeom>
          <a:solidFill>
            <a:srgbClr val="1C7293"/>
          </a:solidFill>
          <a:ln/>
        </p:spPr>
        <p:txBody>
          <a:bodyPr/>
          <a:lstStyle/>
          <a:p>
            <a:endParaRPr lang="en-US"/>
          </a:p>
        </p:txBody>
      </p:sp>
      <p:sp>
        <p:nvSpPr>
          <p:cNvPr id="17" name="Text 15"/>
          <p:cNvSpPr/>
          <p:nvPr/>
        </p:nvSpPr>
        <p:spPr>
          <a:xfrm>
            <a:off x="960120" y="4206240"/>
            <a:ext cx="2743200" cy="502920"/>
          </a:xfrm>
          <a:prstGeom prst="rect">
            <a:avLst/>
          </a:prstGeom>
          <a:noFill/>
          <a:ln/>
        </p:spPr>
        <p:txBody>
          <a:bodyPr wrap="square" lIns="0" tIns="0" rIns="0" bIns="0" rtlCol="0" anchor="ctr"/>
          <a:lstStyle/>
          <a:p>
            <a:pPr marL="0" indent="0">
              <a:buNone/>
            </a:pPr>
            <a:r>
              <a:rPr lang="en-US" sz="1500" b="1" dirty="0">
                <a:solidFill>
                  <a:srgbClr val="1A3A5C"/>
                </a:solidFill>
                <a:latin typeface="Calibri" pitchFamily="34" charset="0"/>
                <a:ea typeface="Calibri" pitchFamily="34" charset="-122"/>
                <a:cs typeface="Calibri" pitchFamily="34" charset="-120"/>
              </a:rPr>
              <a:t>t-SNE visualization</a:t>
            </a:r>
            <a:endParaRPr lang="en-US" sz="1500" dirty="0"/>
          </a:p>
        </p:txBody>
      </p:sp>
      <p:sp>
        <p:nvSpPr>
          <p:cNvPr id="18" name="Text 16"/>
          <p:cNvSpPr/>
          <p:nvPr/>
        </p:nvSpPr>
        <p:spPr>
          <a:xfrm>
            <a:off x="3749040" y="4206240"/>
            <a:ext cx="4754880" cy="50292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Project 384 dimensions down to 2. See the clusters. Find one that surprises you.</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1A3A5C"/>
                </a:solidFill>
                <a:latin typeface="Georgia" pitchFamily="34" charset="0"/>
                <a:ea typeface="Georgia" pitchFamily="34" charset="-122"/>
                <a:cs typeface="Georgia" pitchFamily="34" charset="-120"/>
              </a:rPr>
              <a:t>Key Dates &amp; Deliverables</a:t>
            </a:r>
            <a:endParaRPr lang="en-US" sz="3200" dirty="0"/>
          </a:p>
        </p:txBody>
      </p:sp>
      <p:sp>
        <p:nvSpPr>
          <p:cNvPr id="3" name="Shape 1"/>
          <p:cNvSpPr/>
          <p:nvPr/>
        </p:nvSpPr>
        <p:spPr>
          <a:xfrm>
            <a:off x="640080" y="1280160"/>
            <a:ext cx="7863840" cy="1005840"/>
          </a:xfrm>
          <a:prstGeom prst="rect">
            <a:avLst/>
          </a:prstGeom>
          <a:solidFill>
            <a:srgbClr val="F7F9FC"/>
          </a:solidFill>
          <a:ln/>
          <a:effectLst>
            <a:outerShdw blurRad="76200" dist="25400" dir="8100000" algn="bl" rotWithShape="0">
              <a:srgbClr val="000000">
                <a:alpha val="12000"/>
              </a:srgbClr>
            </a:outerShdw>
          </a:effectLst>
        </p:spPr>
        <p:txBody>
          <a:bodyPr/>
          <a:lstStyle/>
          <a:p>
            <a:endParaRPr lang="en-US"/>
          </a:p>
        </p:txBody>
      </p:sp>
      <p:sp>
        <p:nvSpPr>
          <p:cNvPr id="4" name="Shape 2"/>
          <p:cNvSpPr/>
          <p:nvPr/>
        </p:nvSpPr>
        <p:spPr>
          <a:xfrm>
            <a:off x="640080" y="1280160"/>
            <a:ext cx="73152" cy="1005840"/>
          </a:xfrm>
          <a:prstGeom prst="rect">
            <a:avLst/>
          </a:prstGeom>
          <a:solidFill>
            <a:srgbClr val="1C7293"/>
          </a:solidFill>
          <a:ln/>
        </p:spPr>
        <p:txBody>
          <a:bodyPr/>
          <a:lstStyle/>
          <a:p>
            <a:endParaRPr lang="en-US"/>
          </a:p>
        </p:txBody>
      </p:sp>
      <p:sp>
        <p:nvSpPr>
          <p:cNvPr id="5" name="Text 3"/>
          <p:cNvSpPr/>
          <p:nvPr/>
        </p:nvSpPr>
        <p:spPr>
          <a:xfrm>
            <a:off x="1005840" y="1371600"/>
            <a:ext cx="2926080" cy="32004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Thursday, April 9</a:t>
            </a:r>
            <a:endParaRPr lang="en-US" sz="1600" dirty="0"/>
          </a:p>
        </p:txBody>
      </p:sp>
      <p:sp>
        <p:nvSpPr>
          <p:cNvPr id="6" name="Text 4"/>
          <p:cNvSpPr/>
          <p:nvPr/>
        </p:nvSpPr>
        <p:spPr>
          <a:xfrm>
            <a:off x="1005840" y="1691640"/>
            <a:ext cx="2926080" cy="3200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Lab session (Zoom, 6 PM)</a:t>
            </a:r>
            <a:endParaRPr lang="en-US" sz="1400" dirty="0"/>
          </a:p>
        </p:txBody>
      </p:sp>
      <p:sp>
        <p:nvSpPr>
          <p:cNvPr id="7" name="Text 5"/>
          <p:cNvSpPr/>
          <p:nvPr/>
        </p:nvSpPr>
        <p:spPr>
          <a:xfrm>
            <a:off x="4114800" y="1371600"/>
            <a:ext cx="4114800" cy="7315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Come with Cell 1 attempted. We debug together.</a:t>
            </a:r>
            <a:endParaRPr lang="en-US" sz="1200" dirty="0"/>
          </a:p>
        </p:txBody>
      </p:sp>
      <p:sp>
        <p:nvSpPr>
          <p:cNvPr id="8" name="Shape 6"/>
          <p:cNvSpPr/>
          <p:nvPr/>
        </p:nvSpPr>
        <p:spPr>
          <a:xfrm>
            <a:off x="640080" y="2468880"/>
            <a:ext cx="7863840" cy="1005840"/>
          </a:xfrm>
          <a:prstGeom prst="rect">
            <a:avLst/>
          </a:prstGeom>
          <a:solidFill>
            <a:srgbClr val="F7F9FC"/>
          </a:solidFill>
          <a:ln/>
          <a:effectLst>
            <a:outerShdw blurRad="76200" dist="25400" dir="8100000" algn="bl" rotWithShape="0">
              <a:srgbClr val="000000">
                <a:alpha val="12000"/>
              </a:srgbClr>
            </a:outerShdw>
          </a:effectLst>
        </p:spPr>
        <p:txBody>
          <a:bodyPr/>
          <a:lstStyle/>
          <a:p>
            <a:endParaRPr lang="en-US"/>
          </a:p>
        </p:txBody>
      </p:sp>
      <p:sp>
        <p:nvSpPr>
          <p:cNvPr id="9" name="Shape 7"/>
          <p:cNvSpPr/>
          <p:nvPr/>
        </p:nvSpPr>
        <p:spPr>
          <a:xfrm>
            <a:off x="640080" y="2468880"/>
            <a:ext cx="73152" cy="1005840"/>
          </a:xfrm>
          <a:prstGeom prst="rect">
            <a:avLst/>
          </a:prstGeom>
          <a:solidFill>
            <a:srgbClr val="1A3A5C"/>
          </a:solidFill>
          <a:ln/>
        </p:spPr>
        <p:txBody>
          <a:bodyPr/>
          <a:lstStyle/>
          <a:p>
            <a:endParaRPr lang="en-US"/>
          </a:p>
        </p:txBody>
      </p:sp>
      <p:sp>
        <p:nvSpPr>
          <p:cNvPr id="10" name="Text 8"/>
          <p:cNvSpPr/>
          <p:nvPr/>
        </p:nvSpPr>
        <p:spPr>
          <a:xfrm>
            <a:off x="1005840" y="2560320"/>
            <a:ext cx="2926080" cy="320040"/>
          </a:xfrm>
          <a:prstGeom prst="rect">
            <a:avLst/>
          </a:prstGeom>
          <a:noFill/>
          <a:ln/>
        </p:spPr>
        <p:txBody>
          <a:bodyPr wrap="square" lIns="0" tIns="0" rIns="0" bIns="0" rtlCol="0" anchor="ctr"/>
          <a:lstStyle/>
          <a:p>
            <a:pPr marL="0" indent="0">
              <a:buNone/>
            </a:pPr>
            <a:r>
              <a:rPr lang="en-US" sz="1600" b="1" dirty="0">
                <a:solidFill>
                  <a:srgbClr val="1A3A5C"/>
                </a:solidFill>
                <a:latin typeface="Calibri" pitchFamily="34" charset="0"/>
                <a:ea typeface="Calibri" pitchFamily="34" charset="-122"/>
                <a:cs typeface="Calibri" pitchFamily="34" charset="-120"/>
              </a:rPr>
              <a:t>Before April 14</a:t>
            </a:r>
            <a:endParaRPr lang="en-US" sz="1600" dirty="0"/>
          </a:p>
        </p:txBody>
      </p:sp>
      <p:sp>
        <p:nvSpPr>
          <p:cNvPr id="11" name="Text 9"/>
          <p:cNvSpPr/>
          <p:nvPr/>
        </p:nvSpPr>
        <p:spPr>
          <a:xfrm>
            <a:off x="1005840" y="2880360"/>
            <a:ext cx="2926080" cy="3200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Readings (~1.5 hours)</a:t>
            </a:r>
            <a:endParaRPr lang="en-US" sz="1400" dirty="0"/>
          </a:p>
        </p:txBody>
      </p:sp>
      <p:sp>
        <p:nvSpPr>
          <p:cNvPr id="12" name="Text 10"/>
          <p:cNvSpPr/>
          <p:nvPr/>
        </p:nvSpPr>
        <p:spPr>
          <a:xfrm>
            <a:off x="4114800" y="2560320"/>
            <a:ext cx="4114800" cy="7315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StatQuest → Illustrated Word2Vec → SBERT quickstart → HuggingFace model card → Embedding Projector</a:t>
            </a:r>
            <a:endParaRPr lang="en-US" sz="1200" dirty="0"/>
          </a:p>
        </p:txBody>
      </p:sp>
      <p:sp>
        <p:nvSpPr>
          <p:cNvPr id="13" name="Shape 11"/>
          <p:cNvSpPr/>
          <p:nvPr/>
        </p:nvSpPr>
        <p:spPr>
          <a:xfrm>
            <a:off x="640080" y="3657600"/>
            <a:ext cx="7863840" cy="1005840"/>
          </a:xfrm>
          <a:prstGeom prst="rect">
            <a:avLst/>
          </a:prstGeom>
          <a:solidFill>
            <a:srgbClr val="F7F9FC"/>
          </a:solidFill>
          <a:ln/>
          <a:effectLst>
            <a:outerShdw blurRad="76200" dist="25400" dir="8100000" algn="bl" rotWithShape="0">
              <a:srgbClr val="000000">
                <a:alpha val="12000"/>
              </a:srgbClr>
            </a:outerShdw>
          </a:effectLst>
        </p:spPr>
        <p:txBody>
          <a:bodyPr/>
          <a:lstStyle/>
          <a:p>
            <a:endParaRPr lang="en-US"/>
          </a:p>
        </p:txBody>
      </p:sp>
      <p:sp>
        <p:nvSpPr>
          <p:cNvPr id="14" name="Shape 12"/>
          <p:cNvSpPr/>
          <p:nvPr/>
        </p:nvSpPr>
        <p:spPr>
          <a:xfrm>
            <a:off x="640080" y="3657600"/>
            <a:ext cx="73152" cy="1005840"/>
          </a:xfrm>
          <a:prstGeom prst="rect">
            <a:avLst/>
          </a:prstGeom>
          <a:solidFill>
            <a:srgbClr val="2E7D32"/>
          </a:solidFill>
          <a:ln/>
        </p:spPr>
        <p:txBody>
          <a:bodyPr/>
          <a:lstStyle/>
          <a:p>
            <a:endParaRPr lang="en-US"/>
          </a:p>
        </p:txBody>
      </p:sp>
      <p:sp>
        <p:nvSpPr>
          <p:cNvPr id="15" name="Text 13"/>
          <p:cNvSpPr/>
          <p:nvPr/>
        </p:nvSpPr>
        <p:spPr>
          <a:xfrm>
            <a:off x="1005840" y="3749040"/>
            <a:ext cx="2926080" cy="320040"/>
          </a:xfrm>
          <a:prstGeom prst="rect">
            <a:avLst/>
          </a:prstGeom>
          <a:noFill/>
          <a:ln/>
        </p:spPr>
        <p:txBody>
          <a:bodyPr wrap="square" lIns="0" tIns="0" rIns="0" bIns="0" rtlCol="0" anchor="ctr"/>
          <a:lstStyle/>
          <a:p>
            <a:pPr marL="0" indent="0">
              <a:buNone/>
            </a:pPr>
            <a:r>
              <a:rPr lang="en-US" sz="1600" b="1" dirty="0">
                <a:solidFill>
                  <a:srgbClr val="2E7D32"/>
                </a:solidFill>
                <a:latin typeface="Calibri" pitchFamily="34" charset="0"/>
                <a:ea typeface="Calibri" pitchFamily="34" charset="-122"/>
                <a:cs typeface="Calibri" pitchFamily="34" charset="-120"/>
              </a:rPr>
              <a:t>Tuesday, April 14</a:t>
            </a:r>
            <a:endParaRPr lang="en-US" sz="1600" dirty="0"/>
          </a:p>
        </p:txBody>
      </p:sp>
      <p:sp>
        <p:nvSpPr>
          <p:cNvPr id="16" name="Text 14"/>
          <p:cNvSpPr/>
          <p:nvPr/>
        </p:nvSpPr>
        <p:spPr>
          <a:xfrm>
            <a:off x="1005840" y="4069080"/>
            <a:ext cx="2926080" cy="32004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All deliverables due by class</a:t>
            </a:r>
            <a:endParaRPr lang="en-US" sz="1400" dirty="0"/>
          </a:p>
        </p:txBody>
      </p:sp>
      <p:sp>
        <p:nvSpPr>
          <p:cNvPr id="17" name="Text 15"/>
          <p:cNvSpPr/>
          <p:nvPr/>
        </p:nvSpPr>
        <p:spPr>
          <a:xfrm>
            <a:off x="4114800" y="3749040"/>
            <a:ext cx="4114800" cy="73152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GitHub repo + Demo (3–5 min) + Ethics post</a:t>
            </a:r>
            <a:endParaRPr lang="en-US" sz="1200" dirty="0"/>
          </a:p>
        </p:txBody>
      </p:sp>
      <p:sp>
        <p:nvSpPr>
          <p:cNvPr id="18" name="Shape 16"/>
          <p:cNvSpPr/>
          <p:nvPr/>
        </p:nvSpPr>
        <p:spPr>
          <a:xfrm>
            <a:off x="740664" y="4343400"/>
            <a:ext cx="7763256" cy="365760"/>
          </a:xfrm>
          <a:prstGeom prst="rect">
            <a:avLst/>
          </a:prstGeom>
          <a:solidFill>
            <a:srgbClr val="EDE7F6"/>
          </a:solidFill>
          <a:ln/>
        </p:spPr>
        <p:txBody>
          <a:bodyPr/>
          <a:lstStyle/>
          <a:p>
            <a:endParaRPr lang="en-US"/>
          </a:p>
        </p:txBody>
      </p:sp>
      <p:sp>
        <p:nvSpPr>
          <p:cNvPr id="19" name="Text 17"/>
          <p:cNvSpPr/>
          <p:nvPr/>
        </p:nvSpPr>
        <p:spPr>
          <a:xfrm>
            <a:off x="914400" y="4206240"/>
            <a:ext cx="7315200" cy="640080"/>
          </a:xfrm>
          <a:prstGeom prst="rect">
            <a:avLst/>
          </a:prstGeom>
          <a:noFill/>
          <a:ln/>
        </p:spPr>
        <p:txBody>
          <a:bodyPr wrap="square" lIns="0" tIns="0" rIns="0" bIns="0" rtlCol="0" anchor="ctr"/>
          <a:lstStyle/>
          <a:p>
            <a:pPr marL="0" indent="0">
              <a:buNone/>
            </a:pPr>
            <a:r>
              <a:rPr lang="en-US" sz="1300" dirty="0">
                <a:solidFill>
                  <a:srgbClr val="5E35B1"/>
                </a:solidFill>
                <a:latin typeface="Calibri" pitchFamily="34" charset="0"/>
                <a:ea typeface="Calibri" pitchFamily="34" charset="-122"/>
                <a:cs typeface="Calibri" pitchFamily="34" charset="-120"/>
              </a:rPr>
              <a:t>Dual-enrolled? Combined lab + demo (5–7 min) covers both NLP and CV in one notebook.</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3A5C"/>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Discussion Questions</a:t>
            </a:r>
            <a:endParaRPr lang="en-US" sz="3200" dirty="0"/>
          </a:p>
        </p:txBody>
      </p:sp>
      <p:sp>
        <p:nvSpPr>
          <p:cNvPr id="3" name="Text 1"/>
          <p:cNvSpPr/>
          <p:nvPr/>
        </p:nvSpPr>
        <p:spPr>
          <a:xfrm>
            <a:off x="640080" y="914400"/>
            <a:ext cx="7315200" cy="365760"/>
          </a:xfrm>
          <a:prstGeom prst="rect">
            <a:avLst/>
          </a:prstGeom>
          <a:noFill/>
          <a:ln/>
        </p:spPr>
        <p:txBody>
          <a:bodyPr wrap="square" lIns="0" tIns="0" rIns="0" bIns="0" rtlCol="0" anchor="ctr"/>
          <a:lstStyle/>
          <a:p>
            <a:pPr marL="0" indent="0">
              <a:buNone/>
            </a:pPr>
            <a:r>
              <a:rPr lang="en-US" sz="1400" i="1" dirty="0">
                <a:solidFill>
                  <a:schemeClr val="bg1">
                    <a:lumMod val="95000"/>
                  </a:schemeClr>
                </a:solidFill>
                <a:latin typeface="Calibri" pitchFamily="34" charset="0"/>
                <a:ea typeface="Calibri" pitchFamily="34" charset="-122"/>
                <a:cs typeface="Calibri" pitchFamily="34" charset="-120"/>
              </a:rPr>
              <a:t>To think about as you start the readings</a:t>
            </a:r>
            <a:endParaRPr lang="en-US" sz="1400" dirty="0">
              <a:solidFill>
                <a:schemeClr val="bg1">
                  <a:lumMod val="95000"/>
                </a:schemeClr>
              </a:solidFill>
            </a:endParaRPr>
          </a:p>
        </p:txBody>
      </p:sp>
      <p:sp>
        <p:nvSpPr>
          <p:cNvPr id="4" name="Shape 2"/>
          <p:cNvSpPr/>
          <p:nvPr/>
        </p:nvSpPr>
        <p:spPr>
          <a:xfrm>
            <a:off x="640080" y="1554480"/>
            <a:ext cx="457200" cy="457200"/>
          </a:xfrm>
          <a:prstGeom prst="rect">
            <a:avLst/>
          </a:prstGeom>
          <a:solidFill>
            <a:srgbClr val="1C7293"/>
          </a:solidFill>
          <a:ln/>
        </p:spPr>
        <p:txBody>
          <a:bodyPr/>
          <a:lstStyle/>
          <a:p>
            <a:endParaRPr lang="en-US"/>
          </a:p>
        </p:txBody>
      </p:sp>
      <p:sp>
        <p:nvSpPr>
          <p:cNvPr id="5" name="Text 3"/>
          <p:cNvSpPr/>
          <p:nvPr/>
        </p:nvSpPr>
        <p:spPr>
          <a:xfrm>
            <a:off x="640080" y="155448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6" name="Text 4"/>
          <p:cNvSpPr/>
          <p:nvPr/>
        </p:nvSpPr>
        <p:spPr>
          <a:xfrm>
            <a:off x="1325880" y="1554480"/>
            <a:ext cx="7132320" cy="8686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TF-IDF and embeddings both produce vectors you compare with cosine similarity. What is the fundamental difference in what those vectors encode?</a:t>
            </a:r>
            <a:endParaRPr lang="en-US" sz="1400" dirty="0"/>
          </a:p>
        </p:txBody>
      </p:sp>
      <p:sp>
        <p:nvSpPr>
          <p:cNvPr id="7" name="Shape 5"/>
          <p:cNvSpPr/>
          <p:nvPr/>
        </p:nvSpPr>
        <p:spPr>
          <a:xfrm>
            <a:off x="640080" y="2606040"/>
            <a:ext cx="457200" cy="457200"/>
          </a:xfrm>
          <a:prstGeom prst="rect">
            <a:avLst/>
          </a:prstGeom>
          <a:solidFill>
            <a:srgbClr val="1C7293"/>
          </a:solidFill>
          <a:ln/>
        </p:spPr>
        <p:txBody>
          <a:bodyPr/>
          <a:lstStyle/>
          <a:p>
            <a:endParaRPr lang="en-US"/>
          </a:p>
        </p:txBody>
      </p:sp>
      <p:sp>
        <p:nvSpPr>
          <p:cNvPr id="8" name="Text 6"/>
          <p:cNvSpPr/>
          <p:nvPr/>
        </p:nvSpPr>
        <p:spPr>
          <a:xfrm>
            <a:off x="640080" y="260604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9" name="Text 7"/>
          <p:cNvSpPr/>
          <p:nvPr/>
        </p:nvSpPr>
        <p:spPr>
          <a:xfrm>
            <a:off x="1325880" y="2606040"/>
            <a:ext cx="7132320" cy="8686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The Embedding Projector shows "cat" near "dog" and "France" near "Germany" — but "cat" far from "France." The model was never told any of this. What did it actually learn?</a:t>
            </a:r>
            <a:endParaRPr lang="en-US" sz="1400" dirty="0"/>
          </a:p>
        </p:txBody>
      </p:sp>
      <p:sp>
        <p:nvSpPr>
          <p:cNvPr id="10" name="Shape 8"/>
          <p:cNvSpPr/>
          <p:nvPr/>
        </p:nvSpPr>
        <p:spPr>
          <a:xfrm>
            <a:off x="640080" y="3657600"/>
            <a:ext cx="457200" cy="457200"/>
          </a:xfrm>
          <a:prstGeom prst="rect">
            <a:avLst/>
          </a:prstGeom>
          <a:solidFill>
            <a:srgbClr val="1C7293"/>
          </a:solidFill>
          <a:ln/>
        </p:spPr>
        <p:txBody>
          <a:bodyPr/>
          <a:lstStyle/>
          <a:p>
            <a:endParaRPr lang="en-US"/>
          </a:p>
        </p:txBody>
      </p:sp>
      <p:sp>
        <p:nvSpPr>
          <p:cNvPr id="11" name="Text 9"/>
          <p:cNvSpPr/>
          <p:nvPr/>
        </p:nvSpPr>
        <p:spPr>
          <a:xfrm>
            <a:off x="640080" y="3657600"/>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2" name="Text 10"/>
          <p:cNvSpPr/>
          <p:nvPr/>
        </p:nvSpPr>
        <p:spPr>
          <a:xfrm>
            <a:off x="1325880" y="3657600"/>
            <a:ext cx="7132320" cy="868680"/>
          </a:xfrm>
          <a:prstGeom prst="rect">
            <a:avLst/>
          </a:prstGeom>
          <a:noFill/>
          <a:ln/>
        </p:spPr>
        <p:txBody>
          <a:bodyPr wrap="square" lIns="0" tIns="0" rIns="0" bIns="0" rtlCol="0" anchor="t"/>
          <a:lstStyle/>
          <a:p>
            <a:pPr marL="0" indent="0">
              <a:buNone/>
            </a:pPr>
            <a:r>
              <a:rPr lang="en-US" sz="1400" dirty="0">
                <a:solidFill>
                  <a:srgbClr val="CBD5E1"/>
                </a:solidFill>
                <a:latin typeface="Calibri" pitchFamily="34" charset="0"/>
                <a:ea typeface="Calibri" pitchFamily="34" charset="-122"/>
                <a:cs typeface="Calibri" pitchFamily="34" charset="-120"/>
              </a:rPr>
              <a:t>Your dataset has edge cases that belong to two categories. When semantic search retrieves the top five matches, it has to "choose." What determines where the model places an ambiguous text?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1170</TotalTime>
  <Words>729</Words>
  <Application>Microsoft Macintosh PowerPoint</Application>
  <PresentationFormat>On-screen Show (16:9)</PresentationFormat>
  <Paragraphs>108</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Learned Embeddings — AIML 2003</dc:title>
  <dc:subject>PptxGenJS Presentation</dc:subject>
  <dc:creator>Dan Lovejoy</dc:creator>
  <cp:lastModifiedBy>Dan Lovejoy</cp:lastModifiedBy>
  <cp:revision>3</cp:revision>
  <dcterms:created xsi:type="dcterms:W3CDTF">2026-04-07T01:48:14Z</dcterms:created>
  <dcterms:modified xsi:type="dcterms:W3CDTF">2026-04-07T21:29:08Z</dcterms:modified>
</cp:coreProperties>
</file>