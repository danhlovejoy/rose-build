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70" r:id="rId6"/>
    <p:sldId id="273" r:id="rId7"/>
    <p:sldId id="272" r:id="rId8"/>
    <p:sldId id="271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74" r:id="rId17"/>
    <p:sldId id="264" r:id="rId18"/>
    <p:sldId id="275" r:id="rId19"/>
    <p:sldId id="276" r:id="rId20"/>
    <p:sldId id="277" r:id="rId21"/>
    <p:sldId id="278" r:id="rId22"/>
    <p:sldId id="265" r:id="rId23"/>
    <p:sldId id="266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846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68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97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2F572-A8E8-E6A9-4BD9-0F36C702E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5F007-C745-C830-5320-B715AB088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2C67D-FBB3-F055-8307-D605C7B51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61F4B-198F-532A-FA69-BFF79B6627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993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002E1-0CBC-6763-F83D-EAA076A9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7CCA3-A29B-4032-531B-1498010B1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0BAA9-88EE-F485-253C-7E79A8C5F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F812E-8696-983E-09E5-76EE3E492E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92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E1E8-CE76-0574-23BB-53C8D31C2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8C950-6D84-6D18-780E-0ED5FAC88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82F05-5D72-B1CF-C825-6E2B14602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95036-263C-3B43-8DD7-E8B4123B28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37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DB4D-8BAE-63D3-4D29-D44B86561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74B7A-B6F0-EF48-7ED0-ADEDEAA30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0FD91-F059-347A-E14A-795C43B08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E7285-3741-91C8-00AA-1E3B393E1A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512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hlovejoy/no-slop/blob/main/noslop.m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DB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35040" y="365760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10528" y="365760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86016" y="365760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61504" y="365760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36992" y="365760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0" y="841248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10528" y="841248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86016" y="841248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61504" y="841248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36992" y="841248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316736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10528" y="1316736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86016" y="1316736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61504" y="1316736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36992" y="1316736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0" y="1792224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10528" y="1792224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86016" y="1792224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61504" y="1792224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36992" y="1792224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35040" y="2267712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10528" y="2267712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86016" y="2267712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61504" y="2267712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36992" y="2267712"/>
            <a:ext cx="73152" cy="7315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8686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Playbook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457200" y="1828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B7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Practical techniques for getting better answers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57200" y="2377440"/>
            <a:ext cx="1828800" cy="45720"/>
          </a:xfrm>
          <a:prstGeom prst="rect">
            <a:avLst/>
          </a:prstGeom>
          <a:solidFill>
            <a:srgbClr val="2DB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251460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Techniques  ·  Ready-to-paste prompts 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2999232"/>
            <a:ext cx="987552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2999232"/>
            <a:ext cx="987552" cy="50292"/>
          </a:xfrm>
          <a:prstGeom prst="rect">
            <a:avLst/>
          </a:prstGeom>
          <a:solidFill>
            <a:srgbClr val="388B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054096"/>
            <a:ext cx="987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Put the important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thing first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536192" y="2999232"/>
            <a:ext cx="987552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536192" y="2999232"/>
            <a:ext cx="987552" cy="50292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536192" y="3054096"/>
            <a:ext cx="987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Score before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you use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15184" y="2999232"/>
            <a:ext cx="987552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615184" y="2999232"/>
            <a:ext cx="987552" cy="50292"/>
          </a:xfrm>
          <a:prstGeom prst="rect">
            <a:avLst/>
          </a:prstGeom>
          <a:solidFill>
            <a:srgbClr val="2DB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615184" y="3054096"/>
            <a:ext cx="987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Compress before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you reason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94176" y="2999232"/>
            <a:ext cx="987552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694176" y="2999232"/>
            <a:ext cx="987552" cy="50292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94176" y="3054096"/>
            <a:ext cx="987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Work through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it out loud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73168" y="2999232"/>
            <a:ext cx="987552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73168" y="2999232"/>
            <a:ext cx="987552" cy="50292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73168" y="3054096"/>
            <a:ext cx="987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Framework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first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52160" y="2999232"/>
            <a:ext cx="987552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852160" y="2999232"/>
            <a:ext cx="987552" cy="50292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852160" y="3054096"/>
            <a:ext cx="987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3 opinions,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not 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31152" y="2999232"/>
            <a:ext cx="987552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931152" y="2999232"/>
            <a:ext cx="987552" cy="50292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931152" y="3054096"/>
            <a:ext cx="987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Chain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complex tasks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010144" y="2999232"/>
            <a:ext cx="987552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010144" y="2999232"/>
            <a:ext cx="987552" cy="5029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010144" y="3054096"/>
            <a:ext cx="987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Make 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prove it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</a:rPr>
              <a:t>Use these prompts as-is or adapt them. The more specific your task, the better the answer.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550AA-8CB5-C2BD-0C39-8FB055C4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659F38-22BF-AFD8-FA28-EEFACDFCE08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5AE3F1-E87E-4B19-2E69-8FD2B3CFAF3C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DB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BA647-2891-461C-5C0F-4AE79020DA78}"/>
              </a:ext>
            </a:extLst>
          </p:cNvPr>
          <p:cNvSpPr txBox="1"/>
          <p:nvPr/>
        </p:nvSpPr>
        <p:spPr>
          <a:xfrm>
            <a:off x="457200" y="109728"/>
            <a:ext cx="8229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Calibri"/>
              </a:rPr>
              <a:t>Your judgment is the one thing
AI can’t replace.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BD12D-0A77-2FAC-15F6-1A9EEE72D5DA}"/>
              </a:ext>
            </a:extLst>
          </p:cNvPr>
          <p:cNvSpPr txBox="1"/>
          <p:nvPr/>
        </p:nvSpPr>
        <p:spPr>
          <a:xfrm>
            <a:off x="457200" y="100584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DB7A3"/>
                </a:solidFill>
                <a:latin typeface="Calibri Light"/>
              </a:rPr>
              <a:t>The people who get the most from AI are </a:t>
            </a:r>
            <a:r>
              <a:rPr lang="en-US" sz="1400" b="0" i="0" dirty="0">
                <a:solidFill>
                  <a:srgbClr val="2DB7A3"/>
                </a:solidFill>
                <a:latin typeface="Calibri Light"/>
              </a:rPr>
              <a:t>those</a:t>
            </a:r>
            <a:r>
              <a:rPr sz="1400" b="0" i="0" dirty="0">
                <a:solidFill>
                  <a:srgbClr val="2DB7A3"/>
                </a:solidFill>
                <a:latin typeface="Calibri Light"/>
              </a:rPr>
              <a:t> who </a:t>
            </a:r>
            <a:r>
              <a:rPr lang="en-US" sz="1400" b="0" i="0" dirty="0">
                <a:solidFill>
                  <a:srgbClr val="2DB7A3"/>
                </a:solidFill>
                <a:latin typeface="Calibri Light"/>
              </a:rPr>
              <a:t>don’t </a:t>
            </a:r>
            <a:r>
              <a:rPr sz="1400" b="0" i="0" dirty="0">
                <a:solidFill>
                  <a:srgbClr val="2DB7A3"/>
                </a:solidFill>
                <a:latin typeface="Calibri Light"/>
              </a:rPr>
              <a:t>accept </a:t>
            </a:r>
            <a:r>
              <a:rPr lang="en-US" sz="1400" b="0" i="0" dirty="0">
                <a:solidFill>
                  <a:srgbClr val="2DB7A3"/>
                </a:solidFill>
                <a:latin typeface="Calibri Light"/>
              </a:rPr>
              <a:t>the </a:t>
            </a:r>
            <a:r>
              <a:rPr sz="1400" b="0" i="0" dirty="0">
                <a:solidFill>
                  <a:srgbClr val="2DB7A3"/>
                </a:solidFill>
                <a:latin typeface="Calibri Light"/>
              </a:rPr>
              <a:t>first answer.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1A406F-E829-7898-2BA7-8D4805C179BB}"/>
              </a:ext>
            </a:extLst>
          </p:cNvPr>
          <p:cNvSpPr/>
          <p:nvPr/>
        </p:nvSpPr>
        <p:spPr>
          <a:xfrm>
            <a:off x="457200" y="1298448"/>
            <a:ext cx="82296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13B7AC-613E-8489-5880-B3F84F22AB4A}"/>
              </a:ext>
            </a:extLst>
          </p:cNvPr>
          <p:cNvSpPr/>
          <p:nvPr/>
        </p:nvSpPr>
        <p:spPr>
          <a:xfrm>
            <a:off x="320040" y="1408176"/>
            <a:ext cx="2706624" cy="3017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9DADC1-C4CE-AB93-0CAF-EED2F0214495}"/>
              </a:ext>
            </a:extLst>
          </p:cNvPr>
          <p:cNvSpPr/>
          <p:nvPr/>
        </p:nvSpPr>
        <p:spPr>
          <a:xfrm>
            <a:off x="320040" y="1408176"/>
            <a:ext cx="2706624" cy="5029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788BEB-0179-C2EB-43F1-D0C0327C145A}"/>
              </a:ext>
            </a:extLst>
          </p:cNvPr>
          <p:cNvSpPr/>
          <p:nvPr/>
        </p:nvSpPr>
        <p:spPr>
          <a:xfrm>
            <a:off x="484632" y="1572768"/>
            <a:ext cx="384048" cy="38404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9EF1D2-566C-8EC5-F35D-15C1FED92EC9}"/>
              </a:ext>
            </a:extLst>
          </p:cNvPr>
          <p:cNvSpPr txBox="1"/>
          <p:nvPr/>
        </p:nvSpPr>
        <p:spPr>
          <a:xfrm>
            <a:off x="484632" y="15727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818DAA-79EC-BFDF-6A69-4504D0F8DCDF}"/>
              </a:ext>
            </a:extLst>
          </p:cNvPr>
          <p:cNvSpPr txBox="1"/>
          <p:nvPr/>
        </p:nvSpPr>
        <p:spPr>
          <a:xfrm>
            <a:off x="978407" y="1591056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  <a:latin typeface="Calibri"/>
              </a:rPr>
              <a:t>You direct. AI drafts.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C2223C-36BB-FB60-A3F9-324C0ED3CF5C}"/>
              </a:ext>
            </a:extLst>
          </p:cNvPr>
          <p:cNvSpPr txBox="1"/>
          <p:nvPr/>
        </p:nvSpPr>
        <p:spPr>
          <a:xfrm>
            <a:off x="484632" y="2066543"/>
            <a:ext cx="2414016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49E"/>
                </a:solidFill>
                <a:latin typeface="Calibri Light"/>
              </a:rPr>
              <a:t>AI is fast at producing volume. You are the one who decides what question to ask, what constraints matter, and whether the answer is actually right. That combination — human direction + AI output — produces more than either could alone.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CB9FAA-6969-F82A-75BC-B409DDD076EE}"/>
              </a:ext>
            </a:extLst>
          </p:cNvPr>
          <p:cNvSpPr/>
          <p:nvPr/>
        </p:nvSpPr>
        <p:spPr>
          <a:xfrm>
            <a:off x="3172968" y="1408176"/>
            <a:ext cx="2706624" cy="3017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D7534F-4B45-5B4E-3D37-2602B840A400}"/>
              </a:ext>
            </a:extLst>
          </p:cNvPr>
          <p:cNvSpPr/>
          <p:nvPr/>
        </p:nvSpPr>
        <p:spPr>
          <a:xfrm>
            <a:off x="3172968" y="1408176"/>
            <a:ext cx="2706624" cy="50292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9A9F91-948E-FCBE-CE7F-5D57DACA8963}"/>
              </a:ext>
            </a:extLst>
          </p:cNvPr>
          <p:cNvSpPr/>
          <p:nvPr/>
        </p:nvSpPr>
        <p:spPr>
          <a:xfrm>
            <a:off x="3337560" y="1572768"/>
            <a:ext cx="384048" cy="384048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262FBE-26A0-2FB0-5752-15946583BF96}"/>
              </a:ext>
            </a:extLst>
          </p:cNvPr>
          <p:cNvSpPr txBox="1"/>
          <p:nvPr/>
        </p:nvSpPr>
        <p:spPr>
          <a:xfrm>
            <a:off x="3337560" y="15727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0622E4-6796-4DC4-A695-FE617733188D}"/>
              </a:ext>
            </a:extLst>
          </p:cNvPr>
          <p:cNvSpPr txBox="1"/>
          <p:nvPr/>
        </p:nvSpPr>
        <p:spPr>
          <a:xfrm>
            <a:off x="3831336" y="1591056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0F6FC"/>
                </a:solidFill>
                <a:latin typeface="Calibri"/>
              </a:rPr>
              <a:t>You verify.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91F33A-9E40-E63F-04E7-8D1B02C76842}"/>
              </a:ext>
            </a:extLst>
          </p:cNvPr>
          <p:cNvSpPr txBox="1"/>
          <p:nvPr/>
        </p:nvSpPr>
        <p:spPr>
          <a:xfrm>
            <a:off x="3337560" y="2066543"/>
            <a:ext cx="2414016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8B949E"/>
                </a:solidFill>
                <a:latin typeface="Calibri Light"/>
              </a:rPr>
              <a:t>An AI answer that no one checks is a liability. An AI answer that a skilled person has verified, challenged, and improved is an asset. The techniques in this playbook are exactly how you do that</a:t>
            </a:r>
            <a:r>
              <a:rPr lang="en-US" sz="1250" b="0" i="0" dirty="0">
                <a:solidFill>
                  <a:srgbClr val="8B949E"/>
                </a:solidFill>
                <a:latin typeface="Calibri Light"/>
              </a:rPr>
              <a:t>.</a:t>
            </a:r>
            <a:endParaRPr sz="1250" b="0" i="0" dirty="0">
              <a:solidFill>
                <a:srgbClr val="8B949E"/>
              </a:solidFill>
              <a:latin typeface="Calibri Ligh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FB9336-DF0B-16B2-FF44-0555150E37C3}"/>
              </a:ext>
            </a:extLst>
          </p:cNvPr>
          <p:cNvSpPr/>
          <p:nvPr/>
        </p:nvSpPr>
        <p:spPr>
          <a:xfrm>
            <a:off x="6025896" y="1408176"/>
            <a:ext cx="2706624" cy="3017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8895AD-92FB-9EB3-069E-367C6010093C}"/>
              </a:ext>
            </a:extLst>
          </p:cNvPr>
          <p:cNvSpPr/>
          <p:nvPr/>
        </p:nvSpPr>
        <p:spPr>
          <a:xfrm>
            <a:off x="6025896" y="1408176"/>
            <a:ext cx="2706624" cy="5029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6B9118-099D-5458-85F6-2AA1A683EE24}"/>
              </a:ext>
            </a:extLst>
          </p:cNvPr>
          <p:cNvSpPr/>
          <p:nvPr/>
        </p:nvSpPr>
        <p:spPr>
          <a:xfrm>
            <a:off x="6190488" y="1572768"/>
            <a:ext cx="384048" cy="3840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4F1298-32C4-F939-82AC-CC5B2D59F38B}"/>
              </a:ext>
            </a:extLst>
          </p:cNvPr>
          <p:cNvSpPr txBox="1"/>
          <p:nvPr/>
        </p:nvSpPr>
        <p:spPr>
          <a:xfrm>
            <a:off x="6190488" y="15727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B9A0F1-0685-7F63-774F-D10931A880FE}"/>
              </a:ext>
            </a:extLst>
          </p:cNvPr>
          <p:cNvSpPr txBox="1"/>
          <p:nvPr/>
        </p:nvSpPr>
        <p:spPr>
          <a:xfrm>
            <a:off x="6684264" y="1591056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  <a:latin typeface="Calibri"/>
              </a:rPr>
              <a:t>Your skills compound.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C90F16-C03D-7E6F-83D0-B9192B3C65D0}"/>
              </a:ext>
            </a:extLst>
          </p:cNvPr>
          <p:cNvSpPr txBox="1"/>
          <p:nvPr/>
        </p:nvSpPr>
        <p:spPr>
          <a:xfrm>
            <a:off x="6190488" y="2066543"/>
            <a:ext cx="241401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8B949E"/>
                </a:solidFill>
                <a:latin typeface="Calibri Light"/>
              </a:rPr>
              <a:t>Every person on your team who learns to prompt well multiplies what the team can do. The</a:t>
            </a:r>
            <a:r>
              <a:rPr lang="en-US" sz="1250" b="0" i="0" dirty="0">
                <a:solidFill>
                  <a:srgbClr val="8B949E"/>
                </a:solidFill>
                <a:latin typeface="Calibri Light"/>
              </a:rPr>
              <a:t>se </a:t>
            </a:r>
            <a:r>
              <a:rPr sz="1250" b="0" i="0" dirty="0">
                <a:solidFill>
                  <a:srgbClr val="8B949E"/>
                </a:solidFill>
                <a:latin typeface="Calibri Light"/>
              </a:rPr>
              <a:t>are habits that make every piece of work faster, better-evidenced, and easier to defend.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2390CC-B661-1012-9FF7-A4BD6D1F5BF9}"/>
              </a:ext>
            </a:extLst>
          </p:cNvPr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4A8289-E709-C45F-12B8-5D2D021EFCC0}"/>
              </a:ext>
            </a:extLst>
          </p:cNvPr>
          <p:cNvSpPr txBox="1"/>
          <p:nvPr/>
        </p:nvSpPr>
        <p:spPr>
          <a:xfrm>
            <a:off x="457200" y="4773168"/>
            <a:ext cx="8229600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2DB7A3"/>
                </a:solidFill>
                <a:latin typeface="Calibri"/>
              </a:rPr>
              <a:t>The bottom line: </a:t>
            </a:r>
            <a:r>
              <a:rPr sz="1200" b="0" dirty="0">
                <a:solidFill>
                  <a:srgbClr val="8B949E"/>
                </a:solidFill>
                <a:latin typeface="Calibri"/>
              </a:rPr>
              <a:t>Prompting fluency is a professional skill. It compounds. It transfers across every task you do. The playbook you’re holding is where it starts.</a:t>
            </a:r>
          </a:p>
        </p:txBody>
      </p:sp>
    </p:spTree>
    <p:extLst>
      <p:ext uri="{BB962C8B-B14F-4D97-AF65-F5344CB8AC3E}">
        <p14:creationId xmlns:p14="http://schemas.microsoft.com/office/powerpoint/2010/main" val="62032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052F3-5631-40C8-7650-F92B17D7A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47CD18-1216-2FCB-5203-F9CBF9DA623C}"/>
              </a:ext>
            </a:extLst>
          </p:cNvPr>
          <p:cNvSpPr/>
          <p:nvPr/>
        </p:nvSpPr>
        <p:spPr>
          <a:xfrm>
            <a:off x="0" y="50292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15F8B3-925B-2C41-B005-67DE544D3688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DB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D40AE-B482-9C11-29CC-1B5137B1E6CB}"/>
              </a:ext>
            </a:extLst>
          </p:cNvPr>
          <p:cNvSpPr txBox="1"/>
          <p:nvPr/>
        </p:nvSpPr>
        <p:spPr>
          <a:xfrm>
            <a:off x="457200" y="109728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F0F6FC"/>
                </a:solidFill>
                <a:latin typeface="Calibri"/>
              </a:rPr>
              <a:t>Reduce AI Slop Production</a:t>
            </a:r>
            <a:endParaRPr sz="3000" b="1" i="0" dirty="0">
              <a:solidFill>
                <a:srgbClr val="F0F6FC"/>
              </a:solidFill>
              <a:latin typeface="Calibri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67E8C7-C13B-6C2C-0896-7CF3869D2AAC}"/>
              </a:ext>
            </a:extLst>
          </p:cNvPr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73825E2D-6253-C178-3BD6-6204A300ADD6}"/>
              </a:ext>
            </a:extLst>
          </p:cNvPr>
          <p:cNvSpPr/>
          <p:nvPr/>
        </p:nvSpPr>
        <p:spPr>
          <a:xfrm>
            <a:off x="502920" y="723161"/>
            <a:ext cx="3847699" cy="42242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 Protocol</a:t>
            </a:r>
          </a:p>
          <a:p>
            <a:endParaRPr lang="en-US" sz="135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&amp; Voice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Persona: Seasoned Technical Writer or Infrastructure Architect. No "AI Assistant" tropes.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Rhetorical Transparency: Write so the prose is transparent. Any sentence that draws attention to the writing process rather than the data gets deleted.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"So What?" Test: Every sentence must inform or instruct. Editorializing sentences ("This is where it gets interesting") are cut on sight.</a:t>
            </a:r>
          </a:p>
          <a:p>
            <a:endParaRPr lang="en-US" sz="135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 &amp; Rhythmic Constraints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Asymmetric Groupings: Lists contain exactly two or four or more items. Never three.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 Sentence Variance: Mix 5-word staccato sentences with long, complex clauses. Avoid uniform lengths. Vary where the short sentence falls within each paragraph — do not repeat the same short-long-short-long cadence across consecutive paragraphs.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Varied Openers: Lead with prepositions, adverbs, or dependent clauses. Never start consecutive sentences with the same word.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Continuity: Use periods to end thoughts. Limit </a:t>
            </a:r>
            <a:r>
              <a:rPr lang="en-US" sz="1350" dirty="0" err="1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-dashes to two per page.</a:t>
            </a:r>
          </a:p>
          <a:p>
            <a:endParaRPr lang="en-US" sz="135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Constructions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sentence frames: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"Not only X, but also Y"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"Whether you're X or Y..."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"From X to Y" (range opener)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"In today's [adjective] landscape..."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Main clause + comma + present participle ("The system analyzes data, revealing key insights")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Opening rhetorical question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Closing summary paragraph that restates everything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taglines: Any sentence that editorializes rather than informs or instructs. If removing the sentence loses zero information, delete it. Examples: "You'll see why through your own results." / "That's exactly what it's for." / "This is where things get interesting." / "You're building intuition now that pays off later."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punctuation habits: Em-dashes used more than twice per page. Replace excess instances with periods, commas, colons, or parentheses.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formatting habits: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Bullet points replacing prose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Bolding phrases inside prose for emphasis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Headers on short content that doesn't require navigation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Uniform paragraph or sentence length throughout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hedging and attribution patterns: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"Many experts agree" or "research suggests" without a named source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Stacked qualifiers ("This may potentially help facilitate...")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Both-</a:t>
            </a:r>
            <a:r>
              <a:rPr lang="en-US" sz="1350" dirty="0" err="1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sidesing</a:t>
            </a: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when one side is clearly stronger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"Many studies show" with nothing cited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tone patterns: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Avoiding contractions everywhere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Uniform enthusiasm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Over-explaining concepts the audience already knows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Restating the same idea in slightly different words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Puffing importance without earning it ("marking a pivotal moment in...")</a:t>
            </a:r>
          </a:p>
          <a:p>
            <a:endParaRPr lang="en-US" sz="135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Pattern: Staccato Exclusions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 using a sequence of short, negative fragments to list excluded items. This "Nothing else... No X. No Y." structure creates an informal, breathless tone and reduces readability.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Avoid: "No configuration is needed. No keys. No secrets. No headers."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Better: "The process requires no additional configuration, such as keys, secrets, or headers."</a:t>
            </a:r>
          </a:p>
          <a:p>
            <a:endParaRPr lang="en-US" sz="135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Lexical Governance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words — vague or euphemistic: robust, seamless, comprehensive, cornerstone, catalyst, leverage, optimize, enhance, transform, empower, foster, revolutionize.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words — AI-flavored clichés: delve, tapestry, showcase, highlight, underscore, bolster, garner, embark, realm, landscape, testament, meticulous, intricate, interplay, vibrant, nuanced, pivotal, crucial, vital.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buffer phrases: "It's important to note," "It's worth remembering," "Essentially," "Ultimately," "It appears that," "I was wondering if."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adverbs: extremely, quite, very, actually, basically, potentially. Banned pattern — Bare demonstratives. When "This," "These," "That," "Those," or "It" follows a clause containing multiple referents, the demonstrative must carry a noun. "This drove her crazy" leaves the antecedent unresolved; "This pattern drove her crazy" does not. The test: if the demonstrative could plausibly point to more than one thing in the preceding sentence, add the noun. NO: "The deployment pipeline runs security scans, builds the container image, pushes to the registry, and notifies the team. This takes twelve minutes."  YES: "The deployment pipeline runs security scans, builds the container image, pushes to the registry, and notifies the team. This sequence takes twelve minutes." Encouraged precision — use specific verbs: execute, build, define, verify, assert, resolve, isolate, map, propagate, parse, bind, invoke, constrain, compile, dispatch, register, trace, expose, scope, hydrate.</a:t>
            </a:r>
          </a:p>
          <a:p>
            <a:endParaRPr lang="en-US" sz="135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 Grounding &amp; Formatting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Zero-Inference: Use only provided source text. When a fact is absent from the source, write: "Information not found." When no source document is provided, write from established knowledge without fabricating citations.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of Density: Compress entities — names, data points, version numbers — into existing word counts. Remove uninformative phrases like "this report discusses."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Meta-Commentary: Do not include "Here is the summary" or "I hope this helps." Start the response at the first informative word.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the relationship between listed items, not just the items. A list that names four constraints without explaining how they interact is incomplete.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Modular Approach: Organize content by specific user goals (Topic-Based Authoring).</a:t>
            </a:r>
          </a:p>
          <a:p>
            <a:endParaRPr lang="en-US" sz="135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Self-Audit Checklist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output, run these checks: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Does any sentence contain a banned word, phrase, or construction?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Does every list contain exactly two, or four or more items?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Does sentence length vary within each paragraph, and does the variation pattern differ across consecutive paragraphs?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Does any opener acknowledge the request before addressing it?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Does any sentence survive only by editorializing rather than informing?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Does the response include any meta-commentary, summary taglines, or closing restatements?</a:t>
            </a:r>
          </a:p>
          <a:p>
            <a:endParaRPr lang="en-US" sz="135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CHAT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logic internally; output only the final technical artifact.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Lists must contain exactly two, four, or more items. Only use three item lists when to do otherwise would be unnatural or strange. 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least one sentence per paragraph must be under 7 words; at least one must exceed 20 words.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opener may acknowledge the request before addressing it.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responses brief and professional, NOT obsequious. 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Minimize emojis.</a:t>
            </a:r>
          </a:p>
          <a:p>
            <a:endParaRPr lang="en-US" sz="135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PRESENT - RUN YOUR RESPONSE THROUGH THIS CHECKLIST.</a:t>
            </a:r>
            <a:endParaRPr lang="en-US" sz="13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4547A8-CF5F-1F05-AE63-7F4398BB3F26}"/>
              </a:ext>
            </a:extLst>
          </p:cNvPr>
          <p:cNvSpPr txBox="1"/>
          <p:nvPr/>
        </p:nvSpPr>
        <p:spPr>
          <a:xfrm>
            <a:off x="4853539" y="788183"/>
            <a:ext cx="20522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Constructions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sentence frames: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"Not only X, but also Y"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"Whether you're X or Y..."</a:t>
            </a:r>
          </a:p>
        </p:txBody>
      </p:sp>
      <p:pic>
        <p:nvPicPr>
          <p:cNvPr id="1026" name="Picture 2" descr="QR Code Image">
            <a:extLst>
              <a:ext uri="{FF2B5EF4-FFF2-40B4-BE49-F238E27FC236}">
                <a16:creationId xmlns:a16="http://schemas.microsoft.com/office/drawing/2014/main" id="{9DDA9128-EA54-DA63-17EB-1C871E14C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10" y="262063"/>
            <a:ext cx="1749770" cy="174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CA8E85-3F15-40D1-1F14-99C14444968B}"/>
              </a:ext>
            </a:extLst>
          </p:cNvPr>
          <p:cNvSpPr txBox="1"/>
          <p:nvPr/>
        </p:nvSpPr>
        <p:spPr>
          <a:xfrm>
            <a:off x="4853539" y="2542509"/>
            <a:ext cx="4016141" cy="362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"From X to Y" (range opener)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"In today's [adjective] landscape..."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Main clause + comma + present participle ("The system analyzes data, revealing key insights")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Opening rhetorical question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Closing summary paragraph that restates everything</a:t>
            </a:r>
          </a:p>
          <a:p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taglines: Any sentence that editorializes rather than informs or instructs. If removing the sentence loses zero information, delete it. Examples: "You'll see why through your own results." / "That's exactly what it's for." / "This is where things get interesting." / "You're building</a:t>
            </a:r>
            <a:endParaRPr lang="en-US" sz="1350" dirty="0"/>
          </a:p>
          <a:p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12074-D1E6-B357-6657-07AA38191A9E}"/>
              </a:ext>
            </a:extLst>
          </p:cNvPr>
          <p:cNvSpPr txBox="1"/>
          <p:nvPr/>
        </p:nvSpPr>
        <p:spPr>
          <a:xfrm>
            <a:off x="7009677" y="2038937"/>
            <a:ext cx="1860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 it here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950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36D1-11F5-4630-5938-3F569276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DF5C89-7715-D195-4056-70DE35A1734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B10382-DBE7-67AA-4877-CC2D060BFCA3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ED75E6-5FA1-7E9A-0A22-0CE765A295F0}"/>
              </a:ext>
            </a:extLst>
          </p:cNvPr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D36AF-B825-29EA-5864-F5CD4640DA89}"/>
              </a:ext>
            </a:extLst>
          </p:cNvPr>
          <p:cNvSpPr txBox="1"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C"/>
                </a:solidFill>
                <a:latin typeface="Calibri"/>
              </a:rPr>
              <a:t>Ask the AI to build your prompt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FC4DDD-CB57-B1AE-703B-923A14F3FBD4}"/>
              </a:ext>
            </a:extLst>
          </p:cNvPr>
          <p:cNvSpPr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898DFF-29FC-F59A-0829-D81341E92165}"/>
              </a:ext>
            </a:extLst>
          </p:cNvPr>
          <p:cNvSpPr txBox="1"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Calibri"/>
              </a:rPr>
              <a:t>WHAT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ED644-BF34-D29A-FEB9-D7FC030CE976}"/>
              </a:ext>
            </a:extLst>
          </p:cNvPr>
          <p:cNvSpPr txBox="1"/>
          <p:nvPr/>
        </p:nvSpPr>
        <p:spPr>
          <a:xfrm>
            <a:off x="1243584" y="694944"/>
            <a:ext cx="7534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6FC"/>
                </a:solidFill>
                <a:latin typeface="Calibri"/>
              </a:rPr>
              <a:t>Describe your goal. Ask the AI to write the optimal prompt for it. Then use that prompt.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D941C9-F8D7-1BAE-623B-A47BDBED4527}"/>
              </a:ext>
            </a:extLst>
          </p:cNvPr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A3ADE3-26F1-FD94-906E-DD337E0EAA5C}"/>
              </a:ext>
            </a:extLst>
          </p:cNvPr>
          <p:cNvSpPr/>
          <p:nvPr/>
        </p:nvSpPr>
        <p:spPr>
          <a:xfrm>
            <a:off x="365760" y="1188720"/>
            <a:ext cx="658368" cy="25603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47F0F-4BC8-6671-B999-63FA2A446662}"/>
              </a:ext>
            </a:extLst>
          </p:cNvPr>
          <p:cNvSpPr txBox="1"/>
          <p:nvPr/>
        </p:nvSpPr>
        <p:spPr>
          <a:xfrm>
            <a:off x="365760" y="118872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84FC"/>
                </a:solidFill>
                <a:latin typeface="Calibri"/>
              </a:rPr>
              <a:t>WHY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5923C-F5F4-EA07-3B4E-A100802D4FA2}"/>
              </a:ext>
            </a:extLst>
          </p:cNvPr>
          <p:cNvSpPr txBox="1"/>
          <p:nvPr/>
        </p:nvSpPr>
        <p:spPr>
          <a:xfrm>
            <a:off x="1152144" y="1188720"/>
            <a:ext cx="76260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 Light"/>
              </a:rPr>
              <a:t>You don’t need to figure out the perfect prompt. Let the AI design it — then you decide whether to run it.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0EBB2C-882B-F0C0-F54E-ABAED385541C}"/>
              </a:ext>
            </a:extLst>
          </p:cNvPr>
          <p:cNvSpPr/>
          <p:nvPr/>
        </p:nvSpPr>
        <p:spPr>
          <a:xfrm>
            <a:off x="365760" y="1645920"/>
            <a:ext cx="8412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F24BAF-58E9-815D-AF08-461E92D47722}"/>
              </a:ext>
            </a:extLst>
          </p:cNvPr>
          <p:cNvSpPr/>
          <p:nvPr/>
        </p:nvSpPr>
        <p:spPr>
          <a:xfrm>
            <a:off x="365760" y="1719072"/>
            <a:ext cx="658368" cy="25603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0E4B34-60EE-BA6D-7B99-67FDEFBE08C9}"/>
              </a:ext>
            </a:extLst>
          </p:cNvPr>
          <p:cNvSpPr txBox="1"/>
          <p:nvPr/>
        </p:nvSpPr>
        <p:spPr>
          <a:xfrm>
            <a:off x="365760" y="171907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84FC"/>
                </a:solidFill>
                <a:latin typeface="Calibri"/>
              </a:rPr>
              <a:t>HOW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6090D5-5257-8C08-742F-CC7A425821FE}"/>
              </a:ext>
            </a:extLst>
          </p:cNvPr>
          <p:cNvSpPr/>
          <p:nvPr/>
        </p:nvSpPr>
        <p:spPr>
          <a:xfrm>
            <a:off x="365760" y="2029968"/>
            <a:ext cx="5074920" cy="27066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0124E2-D6EF-79F5-E1DB-994C32DD64F8}"/>
              </a:ext>
            </a:extLst>
          </p:cNvPr>
          <p:cNvSpPr/>
          <p:nvPr/>
        </p:nvSpPr>
        <p:spPr>
          <a:xfrm>
            <a:off x="365760" y="2029968"/>
            <a:ext cx="50292" cy="270662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76132F-39B7-2610-01BA-767373600D6B}"/>
              </a:ext>
            </a:extLst>
          </p:cNvPr>
          <p:cNvSpPr txBox="1"/>
          <p:nvPr/>
        </p:nvSpPr>
        <p:spPr>
          <a:xfrm>
            <a:off x="512064" y="2103120"/>
            <a:ext cx="826617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A8D8B9"/>
                </a:solidFill>
                <a:latin typeface="Consolas"/>
              </a:rPr>
              <a:t>I need you to act as my thought partner and expert prompt engineer. You are writing a PROMPT FOR ME. </a:t>
            </a:r>
            <a:r>
              <a:rPr sz="1000" b="0" i="0" dirty="0">
                <a:solidFill>
                  <a:srgbClr val="A8D8B9"/>
                </a:solidFill>
                <a:latin typeface="Consolas"/>
              </a:rPr>
              <a:t>I want to accomplish this task:
[describe your goal in plain language]
My context:
[any relevant background, constraints,
or data you have available]
Write me the best prompt I could use
to get this done well. Structure it:
  - Most important constraint first
  - Context or background in the middle
  - Exact output format I want at the end
Show me the prompt.
Then ask me to confirm before running.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62C1FA-0BA3-7D08-D285-0C24B55C0AE6}"/>
              </a:ext>
            </a:extLst>
          </p:cNvPr>
          <p:cNvSpPr/>
          <p:nvPr/>
        </p:nvSpPr>
        <p:spPr>
          <a:xfrm>
            <a:off x="5687568" y="3566160"/>
            <a:ext cx="3035808" cy="106070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8E8AE5-10D7-EA43-768F-3E1B9B73144C}"/>
              </a:ext>
            </a:extLst>
          </p:cNvPr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5F3EE6-4D6F-994C-8292-92C39CC349AB}"/>
              </a:ext>
            </a:extLst>
          </p:cNvPr>
          <p:cNvSpPr txBox="1"/>
          <p:nvPr/>
        </p:nvSpPr>
        <p:spPr>
          <a:xfrm>
            <a:off x="457200" y="4773168"/>
            <a:ext cx="8572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C084FC"/>
                </a:solidFill>
                <a:latin typeface="Calibri"/>
              </a:rPr>
              <a:t>Pro tip: </a:t>
            </a:r>
            <a:r>
              <a:rPr sz="1200" b="0" dirty="0">
                <a:solidFill>
                  <a:srgbClr val="8B949E"/>
                </a:solidFill>
                <a:latin typeface="Calibri"/>
              </a:rPr>
              <a:t>Once the AI shows you the prompt, read it before confirming. If anything doesn’t look right, say so and ask it to revise. </a:t>
            </a:r>
          </a:p>
        </p:txBody>
      </p:sp>
    </p:spTree>
    <p:extLst>
      <p:ext uri="{BB962C8B-B14F-4D97-AF65-F5344CB8AC3E}">
        <p14:creationId xmlns:p14="http://schemas.microsoft.com/office/powerpoint/2010/main" val="927574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C"/>
                </a:solidFill>
                <a:latin typeface="Calibri"/>
              </a:rPr>
              <a:t>Ask the AI to build your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79820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0F6FC"/>
                </a:solidFill>
                <a:latin typeface="Calibri"/>
              </a:rPr>
              <a:t>When to use this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1072527"/>
            <a:ext cx="30175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84FC"/>
                </a:solidFill>
                <a:latin typeface="Calibri"/>
              </a:rPr>
              <a:t>‣  </a:t>
            </a:r>
            <a:r>
              <a:rPr sz="1100" b="0">
                <a:solidFill>
                  <a:srgbClr val="8B949E"/>
                </a:solidFill>
                <a:latin typeface="Calibri"/>
              </a:rPr>
              <a:t>You know what you want but not how to 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1278267"/>
            <a:ext cx="30175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84FC"/>
                </a:solidFill>
                <a:latin typeface="Calibri"/>
              </a:rPr>
              <a:t>‣  </a:t>
            </a:r>
            <a:r>
              <a:rPr sz="1100" b="0">
                <a:solidFill>
                  <a:srgbClr val="8B949E"/>
                </a:solidFill>
                <a:latin typeface="Calibri"/>
              </a:rPr>
              <a:t>Doing a task type for the first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1484007"/>
            <a:ext cx="30175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84FC"/>
                </a:solidFill>
                <a:latin typeface="Calibri"/>
              </a:rPr>
              <a:t>‣  </a:t>
            </a:r>
            <a:r>
              <a:rPr sz="1100" b="0">
                <a:solidFill>
                  <a:srgbClr val="8B949E"/>
                </a:solidFill>
                <a:latin typeface="Calibri"/>
              </a:rPr>
              <a:t>A previous prompt gave a weak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689747"/>
            <a:ext cx="30175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84FC"/>
                </a:solidFill>
                <a:latin typeface="Calibri"/>
              </a:rPr>
              <a:t>‣  </a:t>
            </a:r>
            <a:r>
              <a:rPr sz="1100" b="0">
                <a:solidFill>
                  <a:srgbClr val="8B949E"/>
                </a:solidFill>
                <a:latin typeface="Calibri"/>
              </a:rPr>
              <a:t>Building a reusable template for your team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87568" y="3566160"/>
            <a:ext cx="3035808" cy="106070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0" y="990231"/>
            <a:ext cx="4937760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A8D8B9"/>
                </a:solidFill>
                <a:latin typeface="Consolas"/>
              </a:rPr>
              <a:t>You are an expert prompt engineer. I need you act as my thought partner. Help me build a prompt to work through what I want to accomplish.</a:t>
            </a:r>
          </a:p>
          <a:p>
            <a:pPr algn="l"/>
            <a:endParaRPr lang="en-US" sz="1050" b="0" i="0" dirty="0">
              <a:solidFill>
                <a:srgbClr val="A8D8B9"/>
              </a:solidFill>
              <a:latin typeface="Consolas"/>
            </a:endParaRPr>
          </a:p>
          <a:p>
            <a:pPr algn="l"/>
            <a:r>
              <a:rPr sz="1050" b="0" i="0" dirty="0">
                <a:solidFill>
                  <a:srgbClr val="A8D8B9"/>
                </a:solidFill>
                <a:latin typeface="Consolas"/>
              </a:rPr>
              <a:t>I want to accomplish:
Prepare talking points for</a:t>
            </a:r>
            <a:r>
              <a:rPr lang="en-US" sz="1050" b="0" i="0" dirty="0">
                <a:solidFill>
                  <a:srgbClr val="A8D8B9"/>
                </a:solidFill>
                <a:latin typeface="Consolas"/>
              </a:rPr>
              <a:t> </a:t>
            </a:r>
            <a:r>
              <a:rPr sz="1050" b="0" i="0" dirty="0">
                <a:solidFill>
                  <a:srgbClr val="A8D8B9"/>
                </a:solidFill>
                <a:latin typeface="Consolas"/>
              </a:rPr>
              <a:t>a</a:t>
            </a:r>
            <a:r>
              <a:rPr lang="en-US" sz="1050" dirty="0">
                <a:solidFill>
                  <a:srgbClr val="A8D8B9"/>
                </a:solidFill>
                <a:latin typeface="Consolas"/>
              </a:rPr>
              <a:t> </a:t>
            </a:r>
            <a:r>
              <a:rPr sz="1050" b="0" i="0" dirty="0">
                <a:solidFill>
                  <a:srgbClr val="A8D8B9"/>
                </a:solidFill>
                <a:latin typeface="Consolas"/>
              </a:rPr>
              <a:t>board meeting about Q</a:t>
            </a:r>
            <a:r>
              <a:rPr lang="en-US" sz="1050" b="0" i="0" dirty="0">
                <a:solidFill>
                  <a:srgbClr val="A8D8B9"/>
                </a:solidFill>
                <a:latin typeface="Consolas"/>
              </a:rPr>
              <a:t> </a:t>
            </a:r>
            <a:r>
              <a:rPr sz="1050" b="0" i="0" dirty="0">
                <a:solidFill>
                  <a:srgbClr val="A8D8B9"/>
                </a:solidFill>
                <a:latin typeface="Consolas"/>
              </a:rPr>
              <a:t>
results vs forecast.</a:t>
            </a:r>
            <a:r>
              <a:rPr lang="en-US" sz="1050" b="0" i="0" dirty="0">
                <a:solidFill>
                  <a:srgbClr val="A8D8B9"/>
                </a:solidFill>
                <a:latin typeface="Consolas"/>
              </a:rPr>
              <a:t> I will provide the results and forecast. </a:t>
            </a:r>
            <a:r>
              <a:rPr sz="1050" b="0" i="0" dirty="0">
                <a:solidFill>
                  <a:srgbClr val="A8D8B9"/>
                </a:solidFill>
                <a:latin typeface="Consolas"/>
              </a:rPr>
              <a:t>
My context: I have the numbers</a:t>
            </a:r>
            <a:r>
              <a:rPr lang="en-US" sz="1050" b="0" i="0" dirty="0">
                <a:solidFill>
                  <a:srgbClr val="A8D8B9"/>
                </a:solidFill>
                <a:latin typeface="Consolas"/>
              </a:rPr>
              <a:t> </a:t>
            </a:r>
            <a:r>
              <a:rPr sz="1050" b="0" i="0" dirty="0">
                <a:solidFill>
                  <a:srgbClr val="A8D8B9"/>
                </a:solidFill>
                <a:latin typeface="Consolas"/>
              </a:rPr>
              <a:t>but not sure </a:t>
            </a:r>
            <a:r>
              <a:rPr lang="en-US" sz="1050" dirty="0">
                <a:solidFill>
                  <a:srgbClr val="A8D8B9"/>
                </a:solidFill>
                <a:latin typeface="Consolas"/>
              </a:rPr>
              <a:t>how to structure it and what to </a:t>
            </a:r>
            <a:r>
              <a:rPr lang="en-US" sz="1050" dirty="0" err="1">
                <a:solidFill>
                  <a:srgbClr val="A8D8B9"/>
                </a:solidFill>
                <a:latin typeface="Consolas"/>
              </a:rPr>
              <a:t>emphasise</a:t>
            </a:r>
            <a:r>
              <a:rPr lang="en-US" sz="1050" dirty="0">
                <a:solidFill>
                  <a:srgbClr val="A8D8B9"/>
                </a:solidFill>
                <a:latin typeface="Consolas"/>
              </a:rPr>
              <a:t>. Here is the information I will use:</a:t>
            </a:r>
            <a:br>
              <a:rPr lang="en-US" sz="1050" dirty="0">
                <a:solidFill>
                  <a:srgbClr val="A8D8B9"/>
                </a:solidFill>
                <a:latin typeface="Consolas"/>
              </a:rPr>
            </a:br>
            <a:r>
              <a:rPr lang="en-US" sz="1050" dirty="0">
                <a:solidFill>
                  <a:srgbClr val="A8D8B9"/>
                </a:solidFill>
                <a:latin typeface="Consolas"/>
              </a:rPr>
              <a:t>&lt;paste information here&gt;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773168"/>
            <a:ext cx="8572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C084FC"/>
                </a:solidFill>
                <a:latin typeface="Calibri"/>
              </a:rPr>
              <a:t>Pro tip: </a:t>
            </a:r>
            <a:r>
              <a:rPr sz="1200" b="0" dirty="0">
                <a:solidFill>
                  <a:srgbClr val="8B949E"/>
                </a:solidFill>
                <a:latin typeface="Calibri"/>
              </a:rPr>
              <a:t>Once the AI shows you the prompt, read it before confirming. If anything doesn’t look right, say so and ask it to revise.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88B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388B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important thing first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694944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388B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WHAT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43584" y="694944"/>
            <a:ext cx="7534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your most critical constraint. Put context in the middle. Put the output format at the very 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8BFD"/>
                </a:solidFill>
              </a:rPr>
              <a:t>WHY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" y="1097280"/>
            <a:ext cx="7626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model pays most attention to the start and end of what you write. Instructions buried in the middle get less focus.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435608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536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8BFD"/>
                </a:solidFill>
              </a:rPr>
              <a:t>HOW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847088"/>
            <a:ext cx="8412480" cy="2907792"/>
          </a:xfrm>
          <a:prstGeom prst="rect">
            <a:avLst/>
          </a:prstGeom>
          <a:solidFill>
            <a:srgbClr val="0D1117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1847088"/>
            <a:ext cx="50292" cy="2907792"/>
          </a:xfrm>
          <a:prstGeom prst="rect">
            <a:avLst/>
          </a:prstGeom>
          <a:solidFill>
            <a:srgbClr val="388B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920240"/>
            <a:ext cx="818388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[Your most important constraint or requirement]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[All your background context, data, documents, or examples go here]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your answer as: [the exact format you want — table / bullet list /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 brief / numbered steps / etc.]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before you use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694944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WHAT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43584" y="694944"/>
            <a:ext cx="7534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rate your inputs as HIGH / MEDIUM / LOW before it uses them. It works from the best evidence, not all of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5CBF"/>
                </a:solidFill>
              </a:rPr>
              <a:t>WHY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" y="1097280"/>
            <a:ext cx="7626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More context does not mean better answers. Noise degrades quality. Scoring forces the model to triage before it thinks.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435608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536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5CBF"/>
                </a:solidFill>
              </a:rPr>
              <a:t>HOW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847088"/>
            <a:ext cx="8412480" cy="2907792"/>
          </a:xfrm>
          <a:prstGeom prst="rect">
            <a:avLst/>
          </a:prstGeom>
          <a:solidFill>
            <a:srgbClr val="0D1117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1847088"/>
            <a:ext cx="50292" cy="2907792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920240"/>
            <a:ext cx="818388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I'm going to give you [a document / email thread / meeting notes].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use any of it: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each piece of information: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HIGH   — directly relevant to [your specific question]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MEDIUM — useful background but not decisive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LOW    — noise; discard before proceeding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me your scored list and wait for my approval.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use ONLY the HIGH-scored items to: [your actual task]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[Paste your material here]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DB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2DB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before you reason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694944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2DB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WHAT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43584" y="694944"/>
            <a:ext cx="7534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summarize long documents or threads first, confirm the summary with you, then work only from that summary.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B7A3"/>
                </a:solidFill>
              </a:rPr>
              <a:t>WHY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" y="1097280"/>
            <a:ext cx="7626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Models lose focus over very long inputs. A targeted 5-bullet summary is more useful than 50 pages the model skims.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435608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536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B7A3"/>
                </a:solidFill>
              </a:rPr>
              <a:t>HOW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847088"/>
            <a:ext cx="8412480" cy="2907792"/>
          </a:xfrm>
          <a:prstGeom prst="rect">
            <a:avLst/>
          </a:prstGeom>
          <a:solidFill>
            <a:srgbClr val="0D1117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1847088"/>
            <a:ext cx="50292" cy="2907792"/>
          </a:xfrm>
          <a:prstGeom prst="rect">
            <a:avLst/>
          </a:prstGeom>
          <a:solidFill>
            <a:srgbClr val="2DB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920240"/>
            <a:ext cx="818388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I'm going to give you a long [document / email thread / report].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try to work with all of it at once.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— Summarise only what is relevant to [your specific topic]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in no more than 5 bullet points.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Explicitly ignore everything else.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— Show me your 5 bullets.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Ask me if anything important is missing.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— Using only that summary (not the full document),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complete this task: [your actual task]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[Paste your document here]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it out loud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694944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WHAT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43584" y="694944"/>
            <a:ext cx="7534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show its reasoning across three steps before giving you the answer.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29922"/>
                </a:solidFill>
              </a:rPr>
              <a:t>WHY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" y="1097280"/>
            <a:ext cx="7626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Models that show their work catch their own mistakes. Skipping steps leads to confident but wrong answers.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435608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536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29922"/>
                </a:solidFill>
              </a:rPr>
              <a:t>HOW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847088"/>
            <a:ext cx="8412480" cy="2907792"/>
          </a:xfrm>
          <a:prstGeom prst="rect">
            <a:avLst/>
          </a:prstGeom>
          <a:solidFill>
            <a:srgbClr val="0D1117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1847088"/>
            <a:ext cx="50292" cy="2907792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920240"/>
            <a:ext cx="818388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answer, work through these three steps and show me each one: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— UNDERSTAND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Restate the core question in your own words.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What are the key constraints? What would a good answer look like?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— RECALL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From [my emails / documents / meeting notes], what's most relevant here?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Surface 2–3 similar situations and what happened.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— REFLECT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Check your planned answer before writing it.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What assumptions are you making? Are there any gaps?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give me your final answer.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question is: [your question]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first, then your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694944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WHAT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43584" y="694944"/>
            <a:ext cx="7534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build a reusable reasoning framework for your type of task before touching your actual data.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252"/>
                </a:solidFill>
              </a:rPr>
              <a:t>WHY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" y="1097280"/>
            <a:ext cx="7626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the model works from your data straight away, it anchors on your specifics. A framework built first produces more consistent, disciplined answers.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435608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536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252"/>
                </a:solidFill>
              </a:rPr>
              <a:t>HOW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847088"/>
            <a:ext cx="8412480" cy="2907792"/>
          </a:xfrm>
          <a:prstGeom prst="rect">
            <a:avLst/>
          </a:prstGeom>
          <a:solidFill>
            <a:srgbClr val="0D1117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1847088"/>
            <a:ext cx="50292" cy="2907792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920240"/>
            <a:ext cx="818388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going to help me with a [type of task — e.g. "vendor renewal decision" /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"competitive analysis" / "project risk review"].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 first — do NOT attempt the answer yet.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1: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me the ideal step-by-step reasoning framework that a senior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[role — e.g. "procurement lead" / "strategy consultant"] would use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approach this type of problem. Make it reusable.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2: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apply that exact framework, step by step, to my situation: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[your actual situation or data]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opinions, not 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694944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WHAT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43584" y="694944"/>
            <a:ext cx="7534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three independent analyses from different perspectives. Where all three agree is your answer. Where they disagree is where you need to think carefully.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B950"/>
                </a:solidFill>
              </a:rPr>
              <a:t>WHY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" y="1097280"/>
            <a:ext cx="7626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model asked once defaults to whichever framing it sees first. Three independent attempts surface assumptions the first answer hid.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435608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536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B950"/>
                </a:solidFill>
              </a:rPr>
              <a:t>HOW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847088"/>
            <a:ext cx="8412480" cy="2907792"/>
          </a:xfrm>
          <a:prstGeom prst="rect">
            <a:avLst/>
          </a:prstGeom>
          <a:solidFill>
            <a:srgbClr val="0D1117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1847088"/>
            <a:ext cx="50292" cy="2907792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920240"/>
            <a:ext cx="818388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need a reliable answer on [decision / question].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Don't give me your first instinct. I want your most consistent reasoning.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 1 — as a [Role A, e.g. "risk manager"]: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Reason through this independently. Give your conclusion.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 2 — as a [Role B, e.g. "growth strategist"]: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Fresh start. Do not refer to Attempt 1.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 3 — as a [Role C, e.g. "operator focused on delivery"]: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Independent reasoning only.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step: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do all three analyses AGREE? That is your recommendation.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do they CONFLICT? Flag it — don't smooth it over.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</a:rPr>
              <a:t>Chain techniques for complex tasks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694944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WHAT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43584" y="694944"/>
            <a:ext cx="7534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</a:rPr>
              <a:t>Combine 2–3 techniques in sequence. Each one prepares better input for the next.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84FC"/>
                </a:solidFill>
              </a:rPr>
              <a:t>WHY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" y="1097280"/>
            <a:ext cx="7626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Chaining is compositional, not additive. Scoring removes noise before reasoning. Compression reduces drift before analysis.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435608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2670048" cy="321868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1536192"/>
            <a:ext cx="2670048" cy="50292"/>
          </a:xfrm>
          <a:prstGeom prst="rect">
            <a:avLst/>
          </a:prstGeom>
          <a:solidFill>
            <a:srgbClr val="2DB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" y="159105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Long doc or thread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" y="182880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7A3"/>
                </a:solidFill>
              </a:rPr>
              <a:t>Compress  →  Work through 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" y="2048256"/>
            <a:ext cx="2414016" cy="2615184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2103120"/>
            <a:ext cx="2286000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 in sequence: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— Compress to 5 bullets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relevant to [topic]. Confirm.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— Using only that summary: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Understand → Recall → Reflect,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then give me your answer.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[Paste thread here]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1536192"/>
            <a:ext cx="2670048" cy="321868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1536192"/>
            <a:ext cx="2670048" cy="50292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28416" y="159105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High-stakes decision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28416" y="182880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5CBF"/>
                </a:solidFill>
              </a:rPr>
              <a:t>Score  →  3 opinions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28416" y="2048256"/>
            <a:ext cx="2414016" cy="2615184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01568" y="2103120"/>
            <a:ext cx="2286000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 in sequence: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— Score all inputs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HIGH / MEDIUM / LOW.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Show list. Wait for approval.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— Using only HIGH items: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Run 3 analyses as [Role A] 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[Role B] / [Role C].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Vote on the intersection.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1536192"/>
            <a:ext cx="2670048" cy="321868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1536192"/>
            <a:ext cx="2670048" cy="50292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63056" y="159105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Everyday quick task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63056" y="182880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9922"/>
                </a:solidFill>
              </a:rPr>
              <a:t>Model chooses one technique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63056" y="2048256"/>
            <a:ext cx="2414016" cy="2615184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36208" y="2103120"/>
            <a:ext cx="2286000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answering, pick the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technique that fits best: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[A] Score my inputs first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[B] Compress first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[C] Work through it out loud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your choice in one sentence.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 it. Then answer.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 [your task]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AF193-9A55-4989-E653-2FBA7047E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072C7D-F74B-C0F8-0863-70017A6E8A5D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6658125-59DA-7609-D08D-4EA2D4081292}"/>
              </a:ext>
            </a:extLst>
          </p:cNvPr>
          <p:cNvSpPr/>
          <p:nvPr/>
        </p:nvSpPr>
        <p:spPr>
          <a:xfrm>
            <a:off x="365760" y="164592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63570B-8461-BE8F-04AE-46441C0D1C34}"/>
              </a:ext>
            </a:extLst>
          </p:cNvPr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017AEB-1BA0-9415-8E95-DD605BE710F8}"/>
              </a:ext>
            </a:extLst>
          </p:cNvPr>
          <p:cNvSpPr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AI prove it</a:t>
            </a:r>
            <a:endParaRPr lang="en-US" sz="2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E52B66B-DFD7-03B3-4C42-BB440F00F846}"/>
              </a:ext>
            </a:extLst>
          </p:cNvPr>
          <p:cNvSpPr/>
          <p:nvPr/>
        </p:nvSpPr>
        <p:spPr>
          <a:xfrm>
            <a:off x="365760" y="694944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F523F42-3BAD-0F25-41B4-1B58D870C75C}"/>
              </a:ext>
            </a:extLst>
          </p:cNvPr>
          <p:cNvSpPr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WHAT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7BCD9EB-3FF4-BA31-7940-803F695D8187}"/>
              </a:ext>
            </a:extLst>
          </p:cNvPr>
          <p:cNvSpPr/>
          <p:nvPr/>
        </p:nvSpPr>
        <p:spPr>
          <a:xfrm>
            <a:off x="1243584" y="694944"/>
            <a:ext cx="7534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accuracy matters, require verbatim quotes from the source document with exact locations. Use a two-pass approach to prevent the model from fabricating quotes.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26DFE2B-E8BE-A0DD-CAFC-C8A269B71FA1}"/>
              </a:ext>
            </a:extLst>
          </p:cNvPr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DE7E17D-AE17-D9A4-F198-50497BB07ED6}"/>
              </a:ext>
            </a:extLst>
          </p:cNvPr>
          <p:cNvSpPr/>
          <p:nvPr/>
        </p:nvSpPr>
        <p:spPr>
          <a:xfrm>
            <a:off x="365760" y="109728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215667E-17D1-5DA8-54D7-FE417AAE7206}"/>
              </a:ext>
            </a:extLst>
          </p:cNvPr>
          <p:cNvSpPr/>
          <p:nvPr/>
        </p:nvSpPr>
        <p:spPr>
          <a:xfrm>
            <a:off x="365760" y="1097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</a:rPr>
              <a:t>WHY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10EF243-6B41-38E9-E947-F6658420253E}"/>
              </a:ext>
            </a:extLst>
          </p:cNvPr>
          <p:cNvSpPr/>
          <p:nvPr/>
        </p:nvSpPr>
        <p:spPr>
          <a:xfrm>
            <a:off x="1152144" y="1097280"/>
            <a:ext cx="7626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Models can produce plausible-sounding but wrong quotes. Separating 'find it' from 'copy it' catches fabrication before it reaches you.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FEB22D1-FA98-9CFC-9E42-6DCFDB6638CD}"/>
              </a:ext>
            </a:extLst>
          </p:cNvPr>
          <p:cNvSpPr/>
          <p:nvPr/>
        </p:nvSpPr>
        <p:spPr>
          <a:xfrm>
            <a:off x="365760" y="1435608"/>
            <a:ext cx="841248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A809C52-F48B-8A30-2CC5-252E265D72E0}"/>
              </a:ext>
            </a:extLst>
          </p:cNvPr>
          <p:cNvSpPr/>
          <p:nvPr/>
        </p:nvSpPr>
        <p:spPr>
          <a:xfrm>
            <a:off x="365760" y="1536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BCD5C44-837E-78F7-32AA-EDF6F7DAEEAC}"/>
              </a:ext>
            </a:extLst>
          </p:cNvPr>
          <p:cNvSpPr/>
          <p:nvPr/>
        </p:nvSpPr>
        <p:spPr>
          <a:xfrm>
            <a:off x="365760" y="1536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</a:rPr>
              <a:t>HOW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EC3B69B-3B29-5D1C-13B2-5218225A65AF}"/>
              </a:ext>
            </a:extLst>
          </p:cNvPr>
          <p:cNvSpPr/>
          <p:nvPr/>
        </p:nvSpPr>
        <p:spPr>
          <a:xfrm>
            <a:off x="365760" y="1847088"/>
            <a:ext cx="8412480" cy="2907792"/>
          </a:xfrm>
          <a:prstGeom prst="rect">
            <a:avLst/>
          </a:prstGeom>
          <a:solidFill>
            <a:srgbClr val="0D1117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51E0FFC-5F4D-FFD9-F50A-57C1E27FAD91}"/>
              </a:ext>
            </a:extLst>
          </p:cNvPr>
          <p:cNvSpPr/>
          <p:nvPr/>
        </p:nvSpPr>
        <p:spPr>
          <a:xfrm>
            <a:off x="365760" y="1847088"/>
            <a:ext cx="50292" cy="290779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A084B05-7044-7073-B380-359711DAC597}"/>
              </a:ext>
            </a:extLst>
          </p:cNvPr>
          <p:cNvSpPr/>
          <p:nvPr/>
        </p:nvSpPr>
        <p:spPr>
          <a:xfrm>
            <a:off x="502920" y="1920240"/>
            <a:ext cx="818388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&lt;task&gt;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every factual claim in your response, ground it in a retrievable,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high-quality source using a three-pass verification process. You are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responsible for finding sources, not just citing them. Do not produce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claim that has not been through all three passes.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&lt;/task&gt;</a:t>
            </a:r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&lt;sources&gt;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may use sources from two channels:</a:t>
            </a:r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Provided sources — documents, URLs, or references included in this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prompt or the conversation. Treat these as authoritative for the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topic they cover.</a:t>
            </a:r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Retrieved sources — sources you locate via web search or other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research tools. These must meet the quality bar in &lt;</a:t>
            </a:r>
            <a:r>
              <a:rPr lang="en-US" sz="1100" dirty="0" err="1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source_quality</a:t>
            </a: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&gt;.</a:t>
            </a:r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2439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AI prove it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WHAT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765911"/>
            <a:ext cx="8412480" cy="2907792"/>
          </a:xfrm>
          <a:prstGeom prst="rect">
            <a:avLst/>
          </a:prstGeom>
          <a:solidFill>
            <a:srgbClr val="0D1117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65760" y="765910"/>
            <a:ext cx="45720" cy="3840595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765911"/>
            <a:ext cx="8183880" cy="39158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both are available for the same claim, prefer provided sources.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they conflict, surface the conflict in a note rather than picking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silently.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&lt;/sources&gt;</a:t>
            </a:r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00" dirty="0" err="1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source_quality</a:t>
            </a: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retrieved source is acceptable only if it meets all of these: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Primary or authoritative: original research, official documentation,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government/standards bodies, peer-reviewed work, or the entity being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described (e.g., a company's own docs for claims about that company).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Aggregators, SEO content farms, and undated blog posts do not qualify.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Retrievable: has a stable URL you can cite. If you cannot produce a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working URL, you cannot use the source.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Current enough for the claim: for fast-moving topics (prices,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leadership, policy, software versions), the source should be recent.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 the publication date in the Section/Date column.</a:t>
            </a:r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 source meets this bar for a claim, mark it [NO QUALIFIED SOURCE]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do not make the claim.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100" dirty="0" err="1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source_quality</a:t>
            </a: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19900-1B86-709D-5E3B-3E28DA420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255A78-C2DE-4CE0-ED8E-4DFBFFC9195A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8100290-7E48-9E14-3FC8-BABF0A76B484}"/>
              </a:ext>
            </a:extLst>
          </p:cNvPr>
          <p:cNvSpPr/>
          <p:nvPr/>
        </p:nvSpPr>
        <p:spPr>
          <a:xfrm>
            <a:off x="365760" y="164592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9B9EE7-984D-E6A0-8F2C-5FF16C8A4518}"/>
              </a:ext>
            </a:extLst>
          </p:cNvPr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7E874D-D693-2664-207A-41A5C0579B72}"/>
              </a:ext>
            </a:extLst>
          </p:cNvPr>
          <p:cNvSpPr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AI prove it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2E6A4A-39D0-32A7-CDBB-CCD2F6216690}"/>
              </a:ext>
            </a:extLst>
          </p:cNvPr>
          <p:cNvSpPr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WHAT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8DD7DC5-C34A-14C1-24E0-2CEF81FBCD77}"/>
              </a:ext>
            </a:extLst>
          </p:cNvPr>
          <p:cNvSpPr/>
          <p:nvPr/>
        </p:nvSpPr>
        <p:spPr>
          <a:xfrm>
            <a:off x="365760" y="765911"/>
            <a:ext cx="8412480" cy="2907792"/>
          </a:xfrm>
          <a:prstGeom prst="rect">
            <a:avLst/>
          </a:prstGeom>
          <a:solidFill>
            <a:srgbClr val="0D1117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BE64D50-A978-3B35-9A52-5F43C8870D42}"/>
              </a:ext>
            </a:extLst>
          </p:cNvPr>
          <p:cNvSpPr/>
          <p:nvPr/>
        </p:nvSpPr>
        <p:spPr>
          <a:xfrm>
            <a:off x="457197" y="765910"/>
            <a:ext cx="45723" cy="3783085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7208EEC-5957-88DF-86AF-C767951A8902}"/>
              </a:ext>
            </a:extLst>
          </p:cNvPr>
          <p:cNvSpPr/>
          <p:nvPr/>
        </p:nvSpPr>
        <p:spPr>
          <a:xfrm>
            <a:off x="502920" y="765911"/>
            <a:ext cx="8183880" cy="39158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&lt;instructions&gt;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1 — Locate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 a passage in a qualifying source that directly supports the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claim. "Directly supports" means the passage states the claim or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entails it without requiring additional inference. Circumstantial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 adjacent evidence does not count.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 passage directly supports the claim, record it as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[NOT IN SOURCE] and do not include the claim in your response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outside the table.</a:t>
            </a:r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2 — Transcribe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Copy the supporting passage verbatim, character-for-character.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Preserve original punctuation, capitalization, and line breaks.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 not paraphrase, summarize, or "clean up" the wording.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Keep the quote short — long enough to support the claim, no longer.</a:t>
            </a:r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3 — Verify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After the table is complete, re-check each quote against its source: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Does the URL resolve and contain the quoted text?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Does the quote still support the claim when read in its original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context, or does surrounding text change its meaning?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60508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F4AEF-D960-8ED6-3C86-01545082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7A6043-1001-B460-6727-56791DAA8A8E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9996D6F-25BD-E9DE-A549-81F6E1B13B8A}"/>
              </a:ext>
            </a:extLst>
          </p:cNvPr>
          <p:cNvSpPr/>
          <p:nvPr/>
        </p:nvSpPr>
        <p:spPr>
          <a:xfrm>
            <a:off x="365760" y="164592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AFC10B-C9D5-9922-4261-3EFEA326D7A6}"/>
              </a:ext>
            </a:extLst>
          </p:cNvPr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53CAA0-44C4-B7FF-BDA2-34C5D957C9E7}"/>
              </a:ext>
            </a:extLst>
          </p:cNvPr>
          <p:cNvSpPr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AI prove it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5F52C8-9929-AA8B-9D8D-15B72FCCA2BE}"/>
              </a:ext>
            </a:extLst>
          </p:cNvPr>
          <p:cNvSpPr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WHAT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D645385-CC83-DDE5-6346-D0CDEB7DEBA5}"/>
              </a:ext>
            </a:extLst>
          </p:cNvPr>
          <p:cNvSpPr/>
          <p:nvPr/>
        </p:nvSpPr>
        <p:spPr>
          <a:xfrm>
            <a:off x="365760" y="765911"/>
            <a:ext cx="8412480" cy="2907792"/>
          </a:xfrm>
          <a:prstGeom prst="rect">
            <a:avLst/>
          </a:prstGeom>
          <a:solidFill>
            <a:srgbClr val="0D1117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3BFF269-6FD7-F704-F80D-D7B21DF3333A}"/>
              </a:ext>
            </a:extLst>
          </p:cNvPr>
          <p:cNvSpPr/>
          <p:nvPr/>
        </p:nvSpPr>
        <p:spPr>
          <a:xfrm>
            <a:off x="457197" y="765910"/>
            <a:ext cx="45723" cy="3783085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6F59803-389D-37D3-A1B8-45D04D9C4C53}"/>
              </a:ext>
            </a:extLst>
          </p:cNvPr>
          <p:cNvSpPr/>
          <p:nvPr/>
        </p:nvSpPr>
        <p:spPr>
          <a:xfrm>
            <a:off x="502920" y="765911"/>
            <a:ext cx="8183880" cy="39158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either check fails, replace the "Verified?" cell with [UNVERIFIED]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add a note below the table explaining what failed.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&lt;/instructions&gt;</a:t>
            </a:r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00" dirty="0" err="1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output_format</a:t>
            </a: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 markdown table with these columns: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Claim | Verbatim quote | Source | Date | URL | Verified? |</a:t>
            </a:r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Rules: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One row per claim.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"Verbatim quote" wrapped in straight quotation marks.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"Source" names the publication or organization, not just the domain.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"Date" is the publication or last-updated date of the source.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"Verified?" is ✓, [UNVERIFIED], [NOT IN SOURCE], or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[NO QUALIFIED SOURCE].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Rows marked [NOT IN SOURCE] or [NO QUALIFIED SOURCE] may leave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Source/Date/URL blank.</a:t>
            </a:r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the table, add a brief Sources Consulted note listing any sources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searched but rejected, with a one-line reason (e.g., "Wikipedia —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aggregator, used to find primary sources only").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100" dirty="0" err="1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output_format</a:t>
            </a: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12676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840B1-5A8C-A048-09A8-726FB799B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8BFD7F-9F24-5445-BB85-9C7A4A29EEA5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95EB4A5-2EFD-46FD-C8EA-9A453B525FDD}"/>
              </a:ext>
            </a:extLst>
          </p:cNvPr>
          <p:cNvSpPr/>
          <p:nvPr/>
        </p:nvSpPr>
        <p:spPr>
          <a:xfrm>
            <a:off x="365760" y="164592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312EFA-CDCA-3B12-A8A6-33D6056FE5DB}"/>
              </a:ext>
            </a:extLst>
          </p:cNvPr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4C83C8-9A57-C5E2-EE98-1FF955B0D397}"/>
              </a:ext>
            </a:extLst>
          </p:cNvPr>
          <p:cNvSpPr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AI prove it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8DC20EF-F75C-9AA1-1B65-142450D2AAF1}"/>
              </a:ext>
            </a:extLst>
          </p:cNvPr>
          <p:cNvSpPr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WHAT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605F7B8-369B-3970-54F5-487982B1E59C}"/>
              </a:ext>
            </a:extLst>
          </p:cNvPr>
          <p:cNvSpPr/>
          <p:nvPr/>
        </p:nvSpPr>
        <p:spPr>
          <a:xfrm>
            <a:off x="365760" y="765911"/>
            <a:ext cx="8412480" cy="2907792"/>
          </a:xfrm>
          <a:prstGeom prst="rect">
            <a:avLst/>
          </a:prstGeom>
          <a:solidFill>
            <a:srgbClr val="0D1117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7AF0FF5-DB7F-6BA3-0A76-5ED175BA21B8}"/>
              </a:ext>
            </a:extLst>
          </p:cNvPr>
          <p:cNvSpPr/>
          <p:nvPr/>
        </p:nvSpPr>
        <p:spPr>
          <a:xfrm>
            <a:off x="457197" y="765910"/>
            <a:ext cx="45723" cy="3783085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CD8B4E2-2FD1-F569-39E5-A5BF406071D0}"/>
              </a:ext>
            </a:extLst>
          </p:cNvPr>
          <p:cNvSpPr/>
          <p:nvPr/>
        </p:nvSpPr>
        <p:spPr>
          <a:xfrm>
            <a:off x="502920" y="765911"/>
            <a:ext cx="8183880" cy="39158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&lt;example&gt;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Claim | Verbatim quote | Source | Date | URL | Verified? |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|---|---|---|---|---|---|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GPT-4 was released in March 2023 | "We've created GPT-4, the latest milestone in OpenAI's effort in scaling up deep learning. GPT-4 is a large multimodal model… released March 14, 2023." | OpenAI | 2023-03-14 | https://</a:t>
            </a:r>
            <a:r>
              <a:rPr lang="en-US" sz="1100" dirty="0" err="1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openai.com</a:t>
            </a: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/research/gpt-4 | ✓ |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GPT-4 has exactly 1.76 trillion parameters | [NO QUALIFIED SOURCE] | | | | |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The model outperforms humans on the bar exam | "GPT-4 exhibits human-level performance on various professional and academic benchmarks, including passing a simulated bar exam with a score around the top 10% of test takers." | OpenAI | 2023-03-14 | https://</a:t>
            </a:r>
            <a:r>
              <a:rPr lang="en-US" sz="1100" dirty="0" err="1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openai.com</a:t>
            </a:r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/research/gpt-4 | [UNVERIFIED] |</a:t>
            </a:r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 on row 3: The source says "top 10% of test takers," which supports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"outperforms most humans" but not "outperforms humans" in general. 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 needs rewording or removal.</a:t>
            </a:r>
          </a:p>
          <a:p>
            <a:r>
              <a:rPr lang="en-US" sz="11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&lt;/example&gt;</a:t>
            </a:r>
            <a:endParaRPr lang="en-US" sz="1100" dirty="0"/>
          </a:p>
          <a:p>
            <a:endParaRPr lang="en-US" sz="1100" dirty="0">
              <a:solidFill>
                <a:srgbClr val="A8D8B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50854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64592"/>
            <a:ext cx="475488" cy="36576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C"/>
                </a:solidFill>
                <a:latin typeface="Calibri"/>
              </a:rPr>
              <a:t>The Second Opinion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94944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Calibri"/>
              </a:rP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694944"/>
            <a:ext cx="7534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6FC"/>
                </a:solidFill>
                <a:latin typeface="Calibri"/>
              </a:rPr>
              <a:t>Generate a result in one model. Pass it to a different model and ask it to find what’s wrong.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078992"/>
            <a:ext cx="658368" cy="25603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07899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4040"/>
                </a:solidFill>
                <a:latin typeface="Calibri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1078992"/>
            <a:ext cx="76260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8B949E"/>
                </a:solidFill>
                <a:latin typeface="Calibri Light"/>
              </a:rPr>
              <a:t>Every model has blind spots shaped by how it was trained. A second model doesn’t share them — it </a:t>
            </a:r>
            <a:r>
              <a:rPr lang="en-US" sz="1300" dirty="0">
                <a:solidFill>
                  <a:srgbClr val="8B949E"/>
                </a:solidFill>
                <a:latin typeface="Calibri Light"/>
              </a:rPr>
              <a:t>may see</a:t>
            </a:r>
            <a:r>
              <a:rPr sz="1300" b="0" i="0" dirty="0">
                <a:solidFill>
                  <a:srgbClr val="8B949E"/>
                </a:solidFill>
                <a:latin typeface="Calibri Light"/>
              </a:rPr>
              <a:t> the gaps the first one missed.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36192"/>
            <a:ext cx="8412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609344"/>
            <a:ext cx="658368" cy="25603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60934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4040"/>
                </a:solidFill>
                <a:latin typeface="Calibri"/>
              </a:rPr>
              <a:t>HOW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38528"/>
            <a:ext cx="4160520" cy="237744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1938528"/>
            <a:ext cx="394106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117"/>
                </a:solidFill>
                <a:latin typeface="Calibri"/>
              </a:rPr>
              <a:t>CRITIQUE — find what’s wrong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76272"/>
            <a:ext cx="4160520" cy="25786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176272"/>
            <a:ext cx="50292" cy="2578608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2267712"/>
            <a:ext cx="3922776" cy="2432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A8D8B9"/>
                </a:solidFill>
                <a:latin typeface="Consolas"/>
              </a:rPr>
              <a:t>The following was produced by a
different AI model. Your job is
NOT to be helpful about the task.
Find what’s wrong:
- What assumptions aren’t stated?
- What has it missed or glossed over?
- Where is the reasoning weak?
- What would you change, and why?
[Paste the first model’s output here]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1938528"/>
            <a:ext cx="4160520" cy="237744"/>
          </a:xfrm>
          <a:prstGeom prst="rect">
            <a:avLst/>
          </a:prstGeom>
          <a:solidFill>
            <a:srgbClr val="2DB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27448" y="1938528"/>
            <a:ext cx="394106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117"/>
                </a:solidFill>
                <a:latin typeface="Calibri"/>
              </a:rPr>
              <a:t>IMPROVE — make it better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176272"/>
            <a:ext cx="4160520" cy="25786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17720" y="2176272"/>
            <a:ext cx="50292" cy="2578608"/>
          </a:xfrm>
          <a:prstGeom prst="rect">
            <a:avLst/>
          </a:prstGeom>
          <a:solidFill>
            <a:srgbClr val="2DB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64024" y="2267712"/>
            <a:ext cx="3904487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8D8B9"/>
                </a:solidFill>
                <a:latin typeface="Consolas"/>
              </a:rPr>
              <a:t>Below is a draft from another AI.
Improve it substantively — not just
the wording.
Tell me:
1. What gaps did you find?
2. What did you change and why?
3. What would you still flag as
   uncertain or worth checking?
[Paste the first model’s output here]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773168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84040"/>
                </a:solidFill>
                <a:latin typeface="Calibri"/>
              </a:rPr>
              <a:t>When to use it: </a:t>
            </a:r>
            <a:r>
              <a:rPr sz="1200" b="0" dirty="0">
                <a:solidFill>
                  <a:srgbClr val="8B949E"/>
                </a:solidFill>
                <a:latin typeface="Calibri"/>
              </a:rPr>
              <a:t>Any high-stakes output where you want a second set of eyes. GPT → Opus  and Opus → GPT both work.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DB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</a:rPr>
              <a:t>Several techniques combined — a real example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Scenario: deciding whether to renew a $2.1M/year software contract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074920" cy="4133088"/>
          </a:xfrm>
          <a:prstGeom prst="rect">
            <a:avLst/>
          </a:prstGeom>
          <a:solidFill>
            <a:srgbClr val="0D1117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50292" cy="4133088"/>
          </a:xfrm>
          <a:prstGeom prst="rect">
            <a:avLst/>
          </a:prstGeom>
          <a:solidFill>
            <a:srgbClr val="2DB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4800600" cy="3986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have a complex task. Before attempting it, structure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approach using ALL of the following: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State the single most important constraint FIRST.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[Neither the CFO nor the CRO can be ignored — 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 tradeoff if they conflict]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B) Compress the relevant background to 5 bullets.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[Exclude: AE relationship history, marketing materials]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C) Work through it: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Understand the options → Recall similar decisions →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Reflect for gaps before concluding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D) Run two views: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Risk view: what's the downside of renewing?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Opportunity view: what leverage do we have?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Surface where they agree and conflict.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E) Return as a 1-page brief: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1. Decision (1 sentence)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2. Key facts (3 bullets)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3. The tension (2 sentences each view)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4. Recommendation (≤150 words)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5. What would change our mind (2 bullets)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6. Next step before Friday (1 action)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data: [paste emails, transcripts, usage reports]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32120" y="804672"/>
            <a:ext cx="3291840" cy="74980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23560" y="91440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23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16752" y="896112"/>
            <a:ext cx="2706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</a:rPr>
              <a:t>Critical constraint first — model can't ignore either stakeholder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32120" y="1627632"/>
            <a:ext cx="3291840" cy="749808"/>
          </a:xfrm>
          <a:prstGeom prst="rect">
            <a:avLst/>
          </a:prstGeom>
          <a:solidFill>
            <a:srgbClr val="1C2333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23560" y="173736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2356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16752" y="1719072"/>
            <a:ext cx="2706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</a:rPr>
              <a:t>Compression step — noise excluded before reasoning starts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32120" y="2450592"/>
            <a:ext cx="3291840" cy="74980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23560" y="25603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2356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16752" y="2542032"/>
            <a:ext cx="2706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</a:rPr>
              <a:t>Understand → Recall → Reflect — no skipping steps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32120" y="3273552"/>
            <a:ext cx="3291840" cy="749808"/>
          </a:xfrm>
          <a:prstGeom prst="rect">
            <a:avLst/>
          </a:prstGeom>
          <a:solidFill>
            <a:srgbClr val="1C2333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23560" y="338328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23560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16752" y="3364992"/>
            <a:ext cx="2706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</a:rPr>
              <a:t>Two views — forces tension to surface before conclusion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32120" y="4096512"/>
            <a:ext cx="3291840" cy="74980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23560" y="420624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88B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2356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16752" y="4187952"/>
            <a:ext cx="2706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</a:rPr>
              <a:t>Format at the end — exploits the model's recency focus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532120" y="47183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</a:rPr>
              <a:t>The model generates the full brief. You review and decide.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DB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</a:rPr>
              <a:t>Quick Reference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</a:rPr>
              <a:t>Pick the technique that fits your task. Stack them for complex work.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297680" cy="950976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50292" cy="950976"/>
          </a:xfrm>
          <a:prstGeom prst="rect">
            <a:avLst/>
          </a:prstGeom>
          <a:solidFill>
            <a:srgbClr val="388B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" y="914400"/>
            <a:ext cx="347472" cy="274320"/>
          </a:xfrm>
          <a:prstGeom prst="roundRect">
            <a:avLst>
              <a:gd name="adj" fmla="val 13333"/>
            </a:avLst>
          </a:prstGeom>
          <a:solidFill>
            <a:srgbClr val="388B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9144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23544" y="914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6FC"/>
                </a:solidFill>
              </a:rPr>
              <a:t>Put the important thing first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23544" y="124358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Use when: Every prompt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47088"/>
            <a:ext cx="4297680" cy="950976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50292" cy="950976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" y="1938528"/>
            <a:ext cx="347472" cy="274320"/>
          </a:xfrm>
          <a:prstGeom prst="roundRect">
            <a:avLst>
              <a:gd name="adj" fmla="val 13333"/>
            </a:avLst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" y="19385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3544" y="1938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6FC"/>
                </a:solidFill>
              </a:rPr>
              <a:t>Score before you use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3544" y="226771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Use when: Long docs, many sources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71216"/>
            <a:ext cx="4297680" cy="950976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871216"/>
            <a:ext cx="50292" cy="950976"/>
          </a:xfrm>
          <a:prstGeom prst="rect">
            <a:avLst/>
          </a:prstGeom>
          <a:solidFill>
            <a:srgbClr val="2DB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" y="2962656"/>
            <a:ext cx="347472" cy="274320"/>
          </a:xfrm>
          <a:prstGeom prst="roundRect">
            <a:avLst>
              <a:gd name="adj" fmla="val 13333"/>
            </a:avLst>
          </a:prstGeom>
          <a:solidFill>
            <a:srgbClr val="2DB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" y="29626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3544" y="29626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6FC"/>
                </a:solidFill>
              </a:rPr>
              <a:t>Compress before you reason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3544" y="329184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Use when: Email threads, long reports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895344"/>
            <a:ext cx="4297680" cy="950976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895344"/>
            <a:ext cx="50292" cy="950976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" y="3986784"/>
            <a:ext cx="347472" cy="274320"/>
          </a:xfrm>
          <a:prstGeom prst="roundRect">
            <a:avLst>
              <a:gd name="adj" fmla="val 13333"/>
            </a:avLst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" y="39867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3544" y="3986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6FC"/>
                </a:solidFill>
              </a:rPr>
              <a:t>Work through it out loud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3544" y="431596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Use when: Complex analysis, hard questions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822960"/>
            <a:ext cx="4297680" cy="950976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822960"/>
            <a:ext cx="50292" cy="950976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10912" y="914400"/>
            <a:ext cx="347472" cy="274320"/>
          </a:xfrm>
          <a:prstGeom prst="roundRect">
            <a:avLst>
              <a:gd name="adj" fmla="val 13333"/>
            </a:avLst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10912" y="9144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9824" y="914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6FC"/>
                </a:solidFill>
              </a:rPr>
              <a:t>Framework first, then your data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49824" y="124358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Use when: Unfamiliar task types, first-time work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847088"/>
            <a:ext cx="4297680" cy="950976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1847088"/>
            <a:ext cx="50292" cy="95097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10912" y="1938528"/>
            <a:ext cx="347472" cy="274320"/>
          </a:xfrm>
          <a:prstGeom prst="roundRect">
            <a:avLst>
              <a:gd name="adj" fmla="val 13333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10912" y="19385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49824" y="1938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6FC"/>
                </a:solidFill>
              </a:rPr>
              <a:t>3 opinions, not 1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49824" y="226771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Use when: High-stakes decisions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2871216"/>
            <a:ext cx="4297680" cy="950976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46320" y="2871216"/>
            <a:ext cx="50292" cy="950976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010912" y="2962656"/>
            <a:ext cx="347472" cy="274320"/>
          </a:xfrm>
          <a:prstGeom prst="roundRect">
            <a:avLst>
              <a:gd name="adj" fmla="val 13333"/>
            </a:avLst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10912" y="29626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07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49824" y="29626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6FC"/>
                </a:solidFill>
              </a:rPr>
              <a:t>Chain for complex tasks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49824" y="329184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Use when: When one technique isn't enough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3895344"/>
            <a:ext cx="4297680" cy="950976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846320" y="3895344"/>
            <a:ext cx="50292" cy="9509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010912" y="3986784"/>
            <a:ext cx="347472" cy="27432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10912" y="39867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08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49824" y="3986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6FC"/>
                </a:solidFill>
              </a:rPr>
              <a:t>Make it prove it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449824" y="431596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Use when: Research needing validation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4773168"/>
            <a:ext cx="82296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</a:rPr>
              <a:t>Tip: for complex tasks, start with 01, then pick from 02–06 based on what you have.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454FBC66688A43B70C01A7E84D00B8" ma:contentTypeVersion="14" ma:contentTypeDescription="Create a new document." ma:contentTypeScope="" ma:versionID="13ed81b6483822872ed79756f26d30c7">
  <xsd:schema xmlns:xsd="http://www.w3.org/2001/XMLSchema" xmlns:xs="http://www.w3.org/2001/XMLSchema" xmlns:p="http://schemas.microsoft.com/office/2006/metadata/properties" xmlns:ns2="a728e3c0-80b2-4084-a531-be692890f17c" xmlns:ns3="96b8f4e8-f338-49ad-ac77-8161c8187221" targetNamespace="http://schemas.microsoft.com/office/2006/metadata/properties" ma:root="true" ma:fieldsID="4a09ceda1b6c4c0836683df46cb797f4" ns2:_="" ns3:_="">
    <xsd:import namespace="a728e3c0-80b2-4084-a531-be692890f17c"/>
    <xsd:import namespace="96b8f4e8-f338-49ad-ac77-8161c81872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Owne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28e3c0-80b2-4084-a531-be692890f1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Owner" ma:index="16" nillable="true" ma:displayName="Owner" ma:format="Dropdown" ma:list="UserInfo" ma:SharePointGroup="0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02150e22-90a9-4e97-8ddf-699fc54521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b8f4e8-f338-49ad-ac77-8161c8187221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54615368-38af-4267-a4a2-27637cb0cc60}" ma:internalName="TaxCatchAll" ma:showField="CatchAllData" ma:web="96b8f4e8-f338-49ad-ac77-8161c81872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wner xmlns="a728e3c0-80b2-4084-a531-be692890f17c">
      <UserInfo>
        <DisplayName/>
        <AccountId xsi:nil="true"/>
        <AccountType/>
      </UserInfo>
    </Owner>
    <lcf76f155ced4ddcb4097134ff3c332f xmlns="a728e3c0-80b2-4084-a531-be692890f17c">
      <Terms xmlns="http://schemas.microsoft.com/office/infopath/2007/PartnerControls"/>
    </lcf76f155ced4ddcb4097134ff3c332f>
    <TaxCatchAll xmlns="96b8f4e8-f338-49ad-ac77-8161c818722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58D693-AE16-42F9-A46F-5958CFEB43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28e3c0-80b2-4084-a531-be692890f17c"/>
    <ds:schemaRef ds:uri="96b8f4e8-f338-49ad-ac77-8161c81872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3F0FF2-31A6-4769-8D4B-3A0C98BE6547}">
  <ds:schemaRefs>
    <ds:schemaRef ds:uri="http://schemas.openxmlformats.org/package/2006/metadata/core-properties"/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a728e3c0-80b2-4084-a531-be692890f17c"/>
    <ds:schemaRef ds:uri="http://purl.org/dc/terms/"/>
    <ds:schemaRef ds:uri="http://schemas.microsoft.com/office/infopath/2007/PartnerControls"/>
    <ds:schemaRef ds:uri="96b8f4e8-f338-49ad-ac77-8161c8187221"/>
  </ds:schemaRefs>
</ds:datastoreItem>
</file>

<file path=customXml/itemProps3.xml><?xml version="1.0" encoding="utf-8"?>
<ds:datastoreItem xmlns:ds="http://schemas.openxmlformats.org/officeDocument/2006/customXml" ds:itemID="{4FDF48EE-CE75-4D3D-A268-09A89B572E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17725</TotalTime>
  <Words>4749</Words>
  <Application>Microsoft Macintosh PowerPoint</Application>
  <PresentationFormat>On-screen Show (16:9)</PresentationFormat>
  <Paragraphs>488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 Lovejoy</cp:lastModifiedBy>
  <cp:revision>8</cp:revision>
  <dcterms:created xsi:type="dcterms:W3CDTF">2026-04-16T12:31:29Z</dcterms:created>
  <dcterms:modified xsi:type="dcterms:W3CDTF">2026-05-14T01:29:44Z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0x010100E6454FBC66688A43B70C01A7E84D00B8</vt:lpwstr>
  </property>
  <property fmtid="{D5CDD505-2E9C-101B-9397-08002B2CF9AE}" pid="3" name="MediaServiceImageTags">
    <vt:lpwstr/>
  </property>
</Properties>
</file>