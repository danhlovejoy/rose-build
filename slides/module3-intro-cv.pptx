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84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6880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0891B2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Learned Embeddings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gradient histograms to learned features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 2013  ·  Introduction to Computer Vision  ·  Spring 2026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with HOG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749040" cy="54864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A fixed recipe: divide image into grid, measure gradients, concatenate histograms.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Any two engineers get the </a:t>
            </a:r>
            <a:r>
              <a:rPr lang="en-US" sz="1400" b="1" dirty="0">
                <a:solidFill>
                  <a:srgbClr val="E65100"/>
                </a:solidFill>
              </a:rPr>
              <a:t>same vector</a:t>
            </a:r>
            <a:r>
              <a:rPr lang="en-US" sz="1400" dirty="0">
                <a:solidFill>
                  <a:srgbClr val="1E293B"/>
                </a:solidFill>
              </a:rPr>
              <a:t> from the same image.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Can only encode what the formula was designed to find.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749040" cy="5486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Embeddings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19659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Trained on 1.2M labeled images. Learned its own recipe — </a:t>
            </a:r>
            <a:r>
              <a:rPr lang="en-US" sz="1400" b="1" dirty="0">
                <a:solidFill>
                  <a:srgbClr val="2E7D32"/>
                </a:solidFill>
              </a:rPr>
              <a:t>nobody told it</a:t>
            </a:r>
            <a:r>
              <a:rPr lang="en-US" sz="1400" dirty="0">
                <a:solidFill>
                  <a:srgbClr val="1E293B"/>
                </a:solidFill>
              </a:rPr>
              <a:t> what to look for.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Can tell a dog from a wolf even with similar backgrounds.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1,280-dim vector captures meaning, not just edges.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CNN Builds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programmed this hierarchy — it emerged from training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566928"/>
          </a:xfrm>
          <a:prstGeom prst="rect">
            <a:avLst/>
          </a:prstGeom>
          <a:solidFill>
            <a:srgbClr val="93C5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layers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26080" y="13716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&amp; colors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212080" y="13716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at different angles, color gradients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901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7863840" cy="566928"/>
          </a:xfrm>
          <a:prstGeom prst="rect">
            <a:avLst/>
          </a:prstGeom>
          <a:solidFill>
            <a:srgbClr val="6EE7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layers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26080" y="21031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Textures &amp; patterns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12080" y="21031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Fur, stripes, grid patterns, brick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6334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7863840" cy="566928"/>
          </a:xfrm>
          <a:prstGeom prst="rect">
            <a:avLst/>
          </a:prstGeom>
          <a:solidFill>
            <a:srgbClr val="FDE6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8346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layers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26080" y="28346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parts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12080" y="28346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Eyes, wheels, beaks, handles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33649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566160"/>
            <a:ext cx="7863840" cy="566928"/>
          </a:xfrm>
          <a:prstGeom prst="rect">
            <a:avLst/>
          </a:prstGeom>
          <a:solidFill>
            <a:srgbClr val="FCA5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35661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layer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926080" y="35661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identity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35661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a dog." "This is a car."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solidFill>
            <a:srgbClr val="E8E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Distill.pub Feature Visualization article shows real images that activate these neurons.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Stripping the Classification Head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13716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(full)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200400" cy="5943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layers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60520" y="1920240"/>
            <a:ext cx="1828800" cy="5943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60520" y="1920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920240"/>
            <a:ext cx="2286000" cy="594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26480" y="1920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1000-class head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 strip include_top=False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7863840" cy="10972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(feature extractor)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3931920"/>
            <a:ext cx="3200400" cy="5029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layers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74920" y="3931920"/>
            <a:ext cx="1828800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06242" y="3886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7CC4AAEF-7FAE-22D3-249D-C26278414DDA}"/>
              </a:ext>
            </a:extLst>
          </p:cNvPr>
          <p:cNvSpPr/>
          <p:nvPr/>
        </p:nvSpPr>
        <p:spPr>
          <a:xfrm>
            <a:off x="4160520" y="3840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include_top=False, pooling='avg'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This Work?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362456"/>
            <a:ext cx="7863840" cy="13807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Features learned on ImageNet </a:t>
            </a:r>
            <a:r>
              <a:rPr lang="en-US" sz="1600" b="1" dirty="0">
                <a:solidFill>
                  <a:srgbClr val="1A3A5C"/>
                </a:solidFill>
              </a:rPr>
              <a:t>transfer to other datasets</a:t>
            </a:r>
            <a:r>
              <a:rPr lang="en-US" sz="1600" dirty="0">
                <a:solidFill>
                  <a:srgbClr val="1E293B"/>
                </a:solidFill>
              </a:rPr>
              <a:t> because the hierarchy is general, not ImageNet-specific.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Edges, textures, and object parts are useful for describing almost any image — not just ImageNet's 1,000 categories.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2560320" cy="54864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ImageNet: 1.2M images, 1,000 categories (120 dog breeds, cars, chairs, …)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0" y="3017520"/>
            <a:ext cx="256032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3566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images: CIFAR-10 everyday objects. A completely different dataset.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3017520"/>
            <a:ext cx="2560320" cy="5486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9224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transfers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566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hierarchy. Not the classifier. The visual vocabulary the network built.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 Change This Week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SCAFFOLD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2194560"/>
            <a:ext cx="54864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spec box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cell does, what it takes in, what it must produce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371600" y="3063240"/>
            <a:ext cx="54864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94560" y="3063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your LLM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3063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Gemini the specification. Document the prompt in a markdown cell.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371600" y="3931920"/>
            <a:ext cx="54864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94560" y="3931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&amp; explain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code doesn't work, fix it. One sentence on what you changed and why.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Week's Lab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Embeddings &amp; Similarity Retrieval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MobileNetV2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49040" y="1463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include_top=False, pooling='avg'. The classification head is gone — only features remain.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54864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embeddings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9040" y="2148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images from Module 2. Each image → 1,280-dimensional vector.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54864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retrieval system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2834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by cosine similarity: "find images that look like this."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54864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vs. HOG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49040" y="35204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query images, same dataset. Where does the learned model win? Where does it still fail?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54864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4206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visualization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49040" y="4206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1,280 dimensions to 2D. See how images cluster by semantic content.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Dates &amp; Deliverables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1005840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Thursday, April 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session (Zoom, 6 PM)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3716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with Cell 1 attempted. We work through the MobileNetV2 pipeline together.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7863840" cy="1005840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73152" cy="10058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560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April 14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880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(~1.5 hours)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25603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3Blue1Brown (neural nets) → Computerphile (CNNs) → Szeliski §5.4 → Distill.pub (feature visualization)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7863840" cy="1005840"/>
          </a:xfrm>
          <a:prstGeom prst="rect">
            <a:avLst/>
          </a:prstGeom>
          <a:solidFill>
            <a:srgbClr val="F7F9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73152" cy="100584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Tuesday, April 14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069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deliverables due by class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37490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+ Demo (3–5 min) + Ethics post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solidFill>
            <a:srgbClr val="EDE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3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Dual-enrolled? Combined lab + demo (5–7 min) covers both CV and NLP embeddings in one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think about as you start the readings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55448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is a formula you could re-derive from scratch. MobileNetV2's weights were learned from 1.2M images. What do you gain and what do you lose when you swap interpretable formulas for learned weights?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60604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assumes ImageNet features work on your images. How similar is CIFAR-10 to ImageNet? Where would you expect the transfer to work well, and where might it break down?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65760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Distill article shows that deep neurons respond to recognizable object parts — eyes, fur, wheels — even though nobody told the network to look for them. What does this tell you about the relationship between the training objective and the internal representations?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Bridge: Same Story, Two Domains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26517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NLP (AIML 2003)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CV (AIML 2013)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3A5C"/>
                          </a:solidFill>
                        </a:rPr>
                        <a:t>Module 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TF-IDF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word counts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HOG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gradient histograms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3A5C"/>
                          </a:solidFill>
                        </a:rPr>
                        <a:t>Module 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</a:rPr>
                        <a:t>Sentence transformer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</a:rPr>
                        <a:t>384-dim embeddings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</a:rPr>
                        <a:t>MobileNetV2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</a:rPr>
                        <a:t>1,280-dim embeddings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3A5C"/>
                          </a:solidFill>
                        </a:rPr>
                        <a:t>Similarity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Cosine similarity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Cosine similarity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3A5C"/>
                          </a:solidFill>
                        </a:rPr>
                        <a:t>Visualization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t-SNE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t-SNE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E8E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3931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cs typeface="Calibri" pitchFamily="34" charset="-120"/>
              </a:rPr>
              <a:t>A vector is a vector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778</Words>
  <Application>Microsoft Macintosh PowerPoint</Application>
  <PresentationFormat>On-screen Show (16:9)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3: Learned Embeddings — AIML 2013</dc:title>
  <dc:subject>PptxGenJS Presentation</dc:subject>
  <dc:creator>Dan Lovejoy</dc:creator>
  <cp:lastModifiedBy>Dan Lovejoy</cp:lastModifiedBy>
  <cp:revision>5</cp:revision>
  <dcterms:created xsi:type="dcterms:W3CDTF">2026-04-07T01:48:14Z</dcterms:created>
  <dcterms:modified xsi:type="dcterms:W3CDTF">2026-04-07T21:51:56Z</dcterms:modified>
</cp:coreProperties>
</file>