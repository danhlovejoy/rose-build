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4" d="100"/>
          <a:sy n="134" d="100"/>
        </p:scale>
        <p:origin x="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98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4114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94A3B8"/>
                </a:solidFill>
              </a:rPr>
              <a:t>AIML 2003 + AIML 2013  ·  Combined 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 Highlights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AC4E0"/>
                </a:solidFill>
              </a:rPr>
              <a:t>What we're reading, what it means, and where to dig deeper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Thursday, March 26, 2026  ·  6–8 PM Zoom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</a:rPr>
              <a:t>Dan Lovejoy  ·  Rose State College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Tonight's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D0D7D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AIML 2003  ·  NLP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3A5C"/>
                </a:solidFill>
              </a:rPr>
              <a:t>① </a:t>
            </a:r>
            <a:r>
              <a:rPr lang="en-US" sz="1300" dirty="0">
                <a:solidFill>
                  <a:srgbClr val="1E293B"/>
                </a:solidFill>
              </a:rPr>
              <a:t>How LLMs actually work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3A5C"/>
                </a:solidFill>
              </a:rPr>
              <a:t>② </a:t>
            </a:r>
            <a:r>
              <a:rPr lang="en-US" sz="1300" dirty="0">
                <a:solidFill>
                  <a:srgbClr val="1E293B"/>
                </a:solidFill>
              </a:rPr>
              <a:t>Zero-shot, few-shot, chain-of-thought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3A5C"/>
                </a:solidFill>
              </a:rPr>
              <a:t>③ </a:t>
            </a:r>
            <a:r>
              <a:rPr lang="en-US" sz="1300" dirty="0">
                <a:solidFill>
                  <a:srgbClr val="1E293B"/>
                </a:solidFill>
              </a:rPr>
              <a:t>The shift to context engineering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1A3A5C"/>
                </a:solidFill>
              </a:rPr>
              <a:t>④ </a:t>
            </a:r>
            <a:r>
              <a:rPr lang="en-US" sz="1300" dirty="0">
                <a:solidFill>
                  <a:srgbClr val="1E293B"/>
                </a:solidFill>
              </a:rPr>
              <a:t>Automated optimization &amp; reasoning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AIML 2013  ·  Computer 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065A82"/>
                </a:solidFill>
              </a:rPr>
              <a:t>① </a:t>
            </a:r>
            <a:r>
              <a:rPr lang="en-US" sz="1300" dirty="0">
                <a:solidFill>
                  <a:srgbClr val="1E293B"/>
                </a:solidFill>
              </a:rPr>
              <a:t>What an image actually is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065A82"/>
                </a:solidFill>
              </a:rPr>
              <a:t>② </a:t>
            </a:r>
            <a:r>
              <a:rPr lang="en-US" sz="1300" dirty="0">
                <a:solidFill>
                  <a:srgbClr val="1E293B"/>
                </a:solidFill>
              </a:rPr>
              <a:t>Pixels, color, and bit depth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065A82"/>
                </a:solidFill>
              </a:rPr>
              <a:t>③ </a:t>
            </a:r>
            <a:r>
              <a:rPr lang="en-US" sz="1300" dirty="0">
                <a:solidFill>
                  <a:srgbClr val="1E293B"/>
                </a:solidFill>
              </a:rPr>
              <a:t>Filters and kernels</a:t>
            </a:r>
            <a:endParaRPr lang="en-US" sz="13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065A82"/>
                </a:solidFill>
              </a:rPr>
              <a:t>④ </a:t>
            </a:r>
            <a:r>
              <a:rPr lang="en-US" sz="1300" dirty="0">
                <a:solidFill>
                  <a:srgbClr val="1E293B"/>
                </a:solidFill>
              </a:rPr>
              <a:t>Edge detection (your Lab 1 topic)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Goal: hit the highlights, build intuition, point you toward the deep dives. Use the links in Canvas to explore further.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E7D32"/>
                </a:solidFill>
              </a:rPr>
              <a:t>AIML 2003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Language Processing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AC4E0"/>
                </a:solidFill>
              </a:rPr>
              <a:t>From Prompt to Context Engineering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Readings due: before Tuesday, April 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LLMs Actually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1051560"/>
          </a:xfrm>
          <a:prstGeom prst="rect">
            <a:avLst/>
          </a:prstGeom>
          <a:solidFill>
            <a:srgbClr val="E8F0FE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A5C"/>
                </a:solidFill>
              </a:rPr>
              <a:t>Key insight: </a:t>
            </a:r>
            <a:r>
              <a:rPr lang="en-US" sz="1300" dirty="0">
                <a:solidFill>
                  <a:srgbClr val="1E293B"/>
                </a:solidFill>
              </a:rPr>
              <a:t>An LLM is a massive compression of text patterns. It doesn't "know" things the way you do — it predicts the most likely next token based on everything it's been trained on. That prediction, chained thousands of times, produces language.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011680"/>
            <a:ext cx="4023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2011680"/>
            <a:ext cx="402336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2130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3A5C"/>
                </a:solidFill>
              </a:rPr>
              <a:t>Andrej Karpathy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293B"/>
                </a:solidFill>
              </a:rPr>
              <a:t>Intro to Large Language Models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~60 min  ·  Video  ·  YouTube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Training data → neural network → token prediction. The best single overview of how LLMs work, from the person who wrote GPT-2. Former OpenAI / Tesla AI director.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011680"/>
            <a:ext cx="40233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402336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2130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3A5C"/>
                </a:solidFill>
              </a:rPr>
              <a:t>3Blue1Brown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83480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293B"/>
                </a:solidFill>
              </a:rPr>
              <a:t>But What Is a GPT? (Visual)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~27 min  ·  Video  ·  YouTube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90779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How text becomes numbers, how attention works, and how the model builds meaning. The animations make abstract math concrete. Watch Karpathy first, then this one.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</a:rPr>
              <a:t>→ Both videos are in your Canvas readings. Add them to your NotebookLM notebook for Week 2.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Prompting Fundamentals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</a:rPr>
              <a:t>The vocabulary you need before anything else can make sense.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Zero-Shot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promptingguide.ai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Give the model a task with no examples. Just ask directly.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"Classify this review as positive or negative."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Works surprisingly well for tasks the model has seen in training. Your baseline.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97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1188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Few-Shot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664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promptingguide.ai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92024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Provide 2–3 labeled examples before your request. The model infers the pattern and applies it.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Powerful when zero-shot fails. Order of examples matters.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974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11887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Chain-of-Thought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1664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promptingguide.ai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514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"Think step by step before answering."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Forces the model to reason aloud. Dramatically improves math, logic, and multi-step problems. Foundation for modern reasoning architectures.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01168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01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★ CRITICAL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212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</a:rPr>
              <a:t>Anthropic Engineering Blog  ·  September 2025  ·  ~25 min read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81328"/>
            <a:ext cx="8503920" cy="6400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5270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D32"/>
                </a:solidFill>
              </a:rPr>
              <a:t>The shift: </a:t>
            </a:r>
            <a:r>
              <a:rPr lang="en-US" sz="1300" dirty="0">
                <a:solidFill>
                  <a:srgbClr val="1E293B"/>
                </a:solidFill>
              </a:rPr>
              <a:t>Prompt engineering asks "what words do I use?" — Context engineering asks "what information goes in the window, in what order, at what time?"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2743200" cy="2606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7D32"/>
                </a:solidFill>
              </a:rPr>
              <a:t>Attention Budget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A context window is finite. Every token costs. What you put in determines what the model can "see" — choose carefully.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2743200" cy="2606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7D32"/>
                </a:solidFill>
              </a:rPr>
              <a:t>Context Rot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3756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As conversations grow longer, earlier instructions lose influence. Critical context must be repeated or refreshed at key moments.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743200" cy="2606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7D32"/>
                </a:solidFill>
              </a:rPr>
              <a:t>Just-in-Time Retrieval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63640" y="2788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Don't stuff everything in at the start. Retrieve relevant documents exactly when they're needed, then clear them out.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</a:rPr>
              <a:t>This is the most important reading this week. Everything in Weeks 4–7 connects back to this framing.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Frontier Is Moving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4748B"/>
                </a:solidFill>
              </a:rPr>
              <a:t>Layer 3 readings: what research says about automated optimization and reasoning architecture.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Automated Optimization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DSPy, OPRO, TextGrad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treat prompt design as an optimization problem. Give the system an objective function, let it search for better prompts automatically.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Key finding: </a:t>
            </a:r>
            <a:r>
              <a:rPr lang="en-US" sz="1150" dirty="0">
                <a:solidFill>
                  <a:srgbClr val="1E293B"/>
                </a:solidFill>
              </a:rPr>
              <a:t>Automated tools can find prompts humans never would — but you need to know enough to define what "better" means.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A3A5C"/>
                </a:solidFill>
              </a:rPr>
              <a:t>Readings: </a:t>
            </a:r>
            <a:r>
              <a:rPr lang="en-US" sz="1150" dirty="0">
                <a:solidFill>
                  <a:srgbClr val="1E293B"/>
                </a:solidFill>
              </a:rPr>
              <a:t>Survey of Automatic Prompt Optimization  ·  "Is It Time to Treat Prompts as Code?"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The Prompting Inversion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Counterintuitive finding: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Techniques that help mid-tier models (GPT-4o) </a:t>
            </a:r>
            <a:r>
              <a:rPr lang="en-US" sz="1150" b="1" i="1" dirty="0">
                <a:solidFill>
                  <a:srgbClr val="1E293B"/>
                </a:solidFill>
              </a:rPr>
              <a:t>hurt </a:t>
            </a:r>
            <a:r>
              <a:rPr lang="en-US" sz="1150" dirty="0">
                <a:solidFill>
                  <a:srgbClr val="1E293B"/>
                </a:solidFill>
              </a:rPr>
              <a:t>frontier models (GPT-5). Constraints preventing errors in weaker models cause hyper-literalism in stronger ones.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What this means: </a:t>
            </a:r>
            <a:r>
              <a:rPr lang="en-US" sz="1150" dirty="0">
                <a:solidFill>
                  <a:srgbClr val="1E293B"/>
                </a:solidFill>
              </a:rPr>
              <a:t>There's no universal "best practice." Test on your actual model.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1A3A5C"/>
                </a:solidFill>
              </a:rPr>
              <a:t>ACL Outstanding Paper: </a:t>
            </a:r>
            <a:r>
              <a:rPr lang="en-US" sz="1150" dirty="0">
                <a:solidFill>
                  <a:srgbClr val="1E293B"/>
                </a:solidFill>
              </a:rPr>
              <a:t>Simple CoT + majority voting beats complex strategies (Tree-of-Thought, Graph-of-Thought) given more attempts.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4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7DD3FC"/>
                </a:solidFill>
              </a:rPr>
              <a:t>AIML 2013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7DD3FC"/>
                </a:solidFill>
              </a:rPr>
              <a:t>Vision &amp; Images: The Foundation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Readings due: before Tuesday, March 31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 Image?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</a:rPr>
              <a:t>Key insight: </a:t>
            </a:r>
            <a:r>
              <a:rPr lang="en-US" sz="1300" dirty="0">
                <a:solidFill>
                  <a:srgbClr val="1E293B"/>
                </a:solidFill>
              </a:rPr>
              <a:t>A photograph is not a picture to a machine — it's a multidimensional array of numbers. Before any algorithm can "see" anything, the image must become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7432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Grayscale Image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A 2D array of integers. Each cell = one pixel. Value 0 = black. Value 255 = white. In between = gray.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A 100×100 grayscale image is literally a line of 10,000 numbers from 0 to 255 with a STRIDE of 100. 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627632"/>
            <a:ext cx="27432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74320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Color (RGB) Image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0574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Three 2D arrays stacked on top of each other — one each for Red, Green, and Blue channels.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A pixel is now three numbers: [R, G, B]. Red = [255, 0, 0]. White = [255, 255, 255]. Black = [0, 0, 0].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627632"/>
            <a:ext cx="27432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627632"/>
            <a:ext cx="27432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20574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Once an image is an array, you can do math on it. Add, subtract, multiply arrays. Apply filters. Detect patterns.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Every CV algorithm — from blur to deep learning — starts here.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</a:rPr>
              <a:t>Sources: Szeliski Ch. 1.1–1.2  ·  Wolberg: Digital Image Fundamentals  ·  Computerphile: Digital Images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Pixels, Color, and Bit Depth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64748B"/>
                </a:solidFill>
              </a:rPr>
              <a:t>How much information is in each pixel? The answer changes everything about image quality and file size.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1-bit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2 values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Black or white. Pure binary.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8-bit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256 values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Full grayscale range. Standard for single-channel images.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920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24-bit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16.7 million colors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8 bits × 3 channels (RGB). Standard digital photo.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143000"/>
            <a:ext cx="192024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32-bit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+ Alpha channel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8 bits for transparency. RGBA. Used in graphics/video.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64008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273552"/>
            <a:ext cx="7863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</a:rPr>
              <a:t>Sampling and Quantization (Wolberg reading)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630168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Sampling</a:t>
            </a:r>
            <a:r>
              <a:rPr lang="en-US" sz="1150" dirty="0">
                <a:solidFill>
                  <a:srgbClr val="1E293B"/>
                </a:solidFill>
              </a:rPr>
              <a:t> = how finely you divide space (resolution). More samples → sharper image, larger file.
</a:t>
            </a:r>
            <a:r>
              <a:rPr lang="en-US" sz="1150" b="1" dirty="0">
                <a:solidFill>
                  <a:srgbClr val="1E293B"/>
                </a:solidFill>
              </a:rPr>
              <a:t>Quantization</a:t>
            </a:r>
            <a:r>
              <a:rPr lang="en-US" sz="1150" dirty="0">
                <a:solidFill>
                  <a:srgbClr val="1E293B"/>
                </a:solidFill>
              </a:rPr>
              <a:t> = how many levels you allow per sample (bit depth). More bits → smoother gradients, larger file.
</a:t>
            </a:r>
            <a:r>
              <a:rPr lang="en-US" sz="1150" b="1" dirty="0">
                <a:solidFill>
                  <a:srgbClr val="065A82"/>
                </a:solidFill>
              </a:rPr>
              <a:t>→ Try it: </a:t>
            </a:r>
            <a:r>
              <a:rPr lang="en-US" sz="1150" dirty="0">
                <a:solidFill>
                  <a:srgbClr val="1E293B"/>
                </a:solidFill>
              </a:rPr>
              <a:t>Evident Scientific Resolution Explorer (link in Canvas). Drag the slider and watch detail disappear.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Filters and Kernels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658368"/>
          </a:xfrm>
          <a:prstGeom prst="rect">
            <a:avLst/>
          </a:prstGeom>
          <a:solidFill>
            <a:srgbClr val="E0F2F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</a:rPr>
              <a:t>Key insight: </a:t>
            </a:r>
            <a:r>
              <a:rPr lang="en-US" sz="1300" dirty="0">
                <a:solidFill>
                  <a:srgbClr val="1E293B"/>
                </a:solidFill>
              </a:rPr>
              <a:t>A kernel is a small matrix (usually 3×3 or 5×5) that slides across an image. At each position, it multiplies its values with the underlying pixels, sums the result, and writes one new pixel. Different kernels produce completely different effects.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7432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2743200" cy="3657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0574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How: </a:t>
            </a:r>
            <a:r>
              <a:rPr lang="en-US" sz="1100" dirty="0">
                <a:solidFill>
                  <a:srgbClr val="1E293B"/>
                </a:solidFill>
              </a:rPr>
              <a:t>Average neighboring pixels. Smooth out noise. Reduce detail.
</a:t>
            </a:r>
            <a:r>
              <a:rPr lang="en-US" sz="1100" b="1" dirty="0">
                <a:solidFill>
                  <a:srgbClr val="1E293B"/>
                </a:solidFill>
              </a:rPr>
              <a:t>Why it matters: </a:t>
            </a:r>
            <a:r>
              <a:rPr lang="en-US" sz="1100" dirty="0">
                <a:solidFill>
                  <a:srgbClr val="1E293B"/>
                </a:solidFill>
              </a:rPr>
              <a:t>Pre-processing before edge detection. Reduces noise that would otherwise show up as false edges.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627632"/>
            <a:ext cx="27432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7432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Sharpen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20574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How: </a:t>
            </a:r>
            <a:r>
              <a:rPr lang="en-US" sz="1100" dirty="0">
                <a:solidFill>
                  <a:srgbClr val="1E293B"/>
                </a:solidFill>
              </a:rPr>
              <a:t>Emphasize the center pixel. Subtract its neighbors. Amplify differences.
</a:t>
            </a:r>
            <a:r>
              <a:rPr lang="en-US" sz="1100" b="1" dirty="0">
                <a:solidFill>
                  <a:srgbClr val="1E293B"/>
                </a:solidFill>
              </a:rPr>
              <a:t>Why it matters: </a:t>
            </a:r>
            <a:r>
              <a:rPr lang="en-US" sz="1100" dirty="0">
                <a:solidFill>
                  <a:srgbClr val="1E293B"/>
                </a:solidFill>
              </a:rPr>
              <a:t>Makes edges "pop." Also amplifies noise — use carefully.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27632"/>
            <a:ext cx="2743200" cy="320040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627632"/>
            <a:ext cx="27432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627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Edge Detect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2057400"/>
            <a:ext cx="252374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How: </a:t>
            </a:r>
            <a:r>
              <a:rPr lang="en-US" sz="1100" dirty="0">
                <a:solidFill>
                  <a:srgbClr val="1E293B"/>
                </a:solidFill>
              </a:rPr>
              <a:t>Find pixels where neighboring values change rapidly. Output is high where there's an edge.
</a:t>
            </a:r>
            <a:r>
              <a:rPr lang="en-US" sz="1100" b="1" dirty="0">
                <a:solidFill>
                  <a:srgbClr val="1E293B"/>
                </a:solidFill>
              </a:rPr>
              <a:t>Why it matters: </a:t>
            </a:r>
            <a:r>
              <a:rPr lang="en-US" sz="1100" dirty="0">
                <a:solidFill>
                  <a:srgbClr val="1E293B"/>
                </a:solidFill>
              </a:rPr>
              <a:t>Your Lab 1 topic. Foundation for object detection.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809744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065A82"/>
                </a:solidFill>
              </a:rPr>
              <a:t>→ Do this now: setosa.io/ev/image-kernels/  — select each kernel and watch it work pixel by pixel.  (Link in Canvas readings)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Detection: Finding the Signal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132320" y="201168"/>
            <a:ext cx="1554480" cy="27432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0" y="201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Your Lab 1 Topic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64008" cy="4023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32"/>
                </a:solidFill>
              </a:rPr>
              <a:t>Why Edges Matter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An edge is where pixel values change rapidly — the boundary between an object and its background.
Edges carry the structural information in an image. You can remove 90% of the pixels and still recognize most objects — as long as the edges are there.
This is why edge detection is step one in countless pipelines: object detection, medical imaging, autonomous driving.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64008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9144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65A82"/>
                </a:solidFill>
              </a:rPr>
              <a:t>The Sobel Operator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32588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Two kernels in one: </a:t>
            </a:r>
            <a:r>
              <a:rPr lang="en-US" sz="1200" dirty="0">
                <a:solidFill>
                  <a:srgbClr val="1E293B"/>
                </a:solidFill>
              </a:rPr>
              <a:t>one detects horizontal edges, one detects vertical edges. Combine them to get the full gradient magnitude.
Gradient = how fast values change. High gradient → edge. Low gradient → flat region.
</a:t>
            </a:r>
            <a:r>
              <a:rPr lang="en-US" sz="1200" b="1" dirty="0">
                <a:solidFill>
                  <a:srgbClr val="065A82"/>
                </a:solidFill>
              </a:rPr>
              <a:t>Computerphile: "Finding the Edges" (~12 min)
Computerphile: "How Blurs &amp; Filters Work" (~8 min)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F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Courses: Turning the World Into Numbers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8B4FE"/>
                </a:solidFill>
              </a:rPr>
              <a:t>Before any machine learning can happen, human content must become a vector.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65760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AAC4E0"/>
                </a:solidFill>
              </a:rPr>
              <a:t>AIML 2003  ·  NLP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12848"/>
            <a:ext cx="3383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→ Tokens → Embeddings
</a:t>
            </a:r>
            <a:r>
              <a:rPr lang="en-US" sz="1200" dirty="0">
                <a:solidFill>
                  <a:srgbClr val="CBD5E1"/>
                </a:solidFill>
              </a:rPr>
              <a:t>"The cat sat" becomes a sequence of integer IDs, then a sequence of vectors in high-dimensional space.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</a:rPr>
              <a:t>The model works entirely in that vector space. Language is numbers.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3657600" cy="2926080"/>
          </a:xfrm>
          <a:prstGeom prst="rect">
            <a:avLst/>
          </a:prstGeom>
          <a:solidFill>
            <a:srgbClr val="0C3249"/>
          </a:solidFill>
          <a:ln w="12700">
            <a:solidFill>
              <a:srgbClr val="2A7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7DD3FC"/>
                </a:solidFill>
              </a:rPr>
              <a:t>AIML 2013  ·  CV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83480" y="2212848"/>
            <a:ext cx="34290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b="1" dirty="0">
                <a:solidFill>
                  <a:srgbClr val="FFFFFF"/>
                </a:solidFill>
              </a:rPr>
              <a:t>Image → Pixels → Arrays →  Tokens →  Embeddings
</a:t>
            </a:r>
            <a:r>
              <a:rPr lang="en-US" sz="1200" dirty="0">
                <a:solidFill>
                  <a:srgbClr val="BAE6FD"/>
                </a:solidFill>
              </a:rPr>
              <a:t>A photograph becomes a 3D array of integers: height × width × 3 channels.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AE6FD"/>
                </a:solidFill>
              </a:rPr>
              <a:t>Every CV algorithm, from blur to neural networks, operates on that array. Computer vision is numbers.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3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Tonight's Lab + Coming 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412480" cy="1234440"/>
          </a:xfrm>
          <a:prstGeom prst="rect">
            <a:avLst/>
          </a:prstGeom>
          <a:solidFill>
            <a:srgbClr val="0F2F4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65A82"/>
                </a:solidFill>
              </a:rPr>
              <a:t>Tonight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Get your environment set up: </a:t>
            </a:r>
            <a:r>
              <a:rPr lang="en-US" sz="1200" dirty="0">
                <a:solidFill>
                  <a:srgbClr val="CBD5E1"/>
                </a:solidFill>
              </a:rPr>
              <a:t>Google Colab, Gemini API key, GitHub account, and Colab↔GitHub integration.
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</a:rPr>
              <a:t>Run the Week 1 notebook. Ask questions. Use the lab to get unstuck before Tuesday.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3931920" cy="1920240"/>
          </a:xfrm>
          <a:prstGeom prst="rect">
            <a:avLst/>
          </a:prstGeom>
          <a:solidFill>
            <a:srgbClr val="0F2F4A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AC4E0"/>
                </a:solidFill>
              </a:rPr>
              <a:t>AIML 2003 – Coming 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16352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Week 2 (Apr 1): </a:t>
            </a:r>
            <a:r>
              <a:rPr lang="en-US" sz="1150" dirty="0">
                <a:solidFill>
                  <a:srgbClr val="CBD5E1"/>
                </a:solidFill>
              </a:rPr>
              <a:t>First presentation — pick a topic from the readings you want to explore deeper.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Complete readings by Tuesday. </a:t>
            </a:r>
            <a:r>
              <a:rPr lang="en-US" sz="1150" dirty="0">
                <a:solidFill>
                  <a:srgbClr val="CBD5E1"/>
                </a:solidFill>
              </a:rPr>
              <a:t>Load everything into NotebookLM and try the Audio Overview.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2377440"/>
            <a:ext cx="3931920" cy="1920240"/>
          </a:xfrm>
          <a:prstGeom prst="rect">
            <a:avLst/>
          </a:prstGeom>
          <a:solidFill>
            <a:srgbClr val="0F2F4A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D3FC"/>
                </a:solidFill>
              </a:rPr>
              <a:t>AIML 2013 – Coming 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816352"/>
            <a:ext cx="37033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Week 2 (Apr 1): </a:t>
            </a:r>
            <a:r>
              <a:rPr lang="en-US" sz="1150" dirty="0">
                <a:solidFill>
                  <a:srgbClr val="BAE6FD"/>
                </a:solidFill>
              </a:rPr>
              <a:t>Edge detection + blurring lab. First presentation.
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</a:rPr>
              <a:t>Watch the Computerphile videos </a:t>
            </a:r>
            <a:r>
              <a:rPr lang="en-US" sz="1150" dirty="0">
                <a:solidFill>
                  <a:srgbClr val="BAE6FD"/>
                </a:solidFill>
              </a:rPr>
              <a:t>before Tuesday — the lab will go much faster if you understand kernels going in.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Questions? Raise your hand or drop them in the Zoom chat.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1756</Words>
  <Application>Microsoft Macintosh PowerPoint</Application>
  <PresentationFormat>On-screen Show (16:9)</PresentationFormat>
  <Paragraphs>159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– Week 1 Highlights – AIML 2003 + AIML 2013</dc:title>
  <dc:subject>PptxGenJS Presentation</dc:subject>
  <dc:creator>Dan Lovejoy</dc:creator>
  <cp:lastModifiedBy>Lovejoy, Dan</cp:lastModifiedBy>
  <cp:revision>2</cp:revision>
  <dcterms:created xsi:type="dcterms:W3CDTF">2026-03-26T20:40:32Z</dcterms:created>
  <dcterms:modified xsi:type="dcterms:W3CDTF">2026-03-26T20:52:01Z</dcterms:modified>
</cp:coreProperties>
</file>